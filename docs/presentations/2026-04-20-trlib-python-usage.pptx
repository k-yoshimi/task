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 trlib、つまり TASK/TR の Python ラッパーの使い方をご紹介します。tr モジュールは 1 次元プラズマ輸送計算を担当する Fortran コードで、従来は CLI バイナリ tr2 として動かしていました。今回、共有ライブラリ libtrapi.so と Python ラッパー trlib を介して、Python スクリプトから直接呼べるようになっています。想定時間は 15 分です。基本フロー、パラメータ設定、状態取得、スイープ、デバッグ、他モジュールへの拡張という流れでお話しします。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全体像です。上段が従来の CLI 経路で、namelist .in を tr2 バイナリに食わせてファイル出力するという流れです。下段が今回追加した Python 経路で、Python からctypes 越しに libtrapi.so の 5 つの BIND(C) 関数を呼びます。重要なのは Fortran カーネルが共通である点で、同じ計算式が動きます。Layer 1 等価性テストで 1e-10 の同等性を確認済みです。結果は TrState という dataclass で取り出せます。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ビルド手順は 3 ステップだけです。tr ディレクトリで make libtrapi.so、それから PYTHONPATH に repo/python を通し、import が通るか確認します。TRLIB_LIBRARY 環境変数または Trlib(lib_path=...) で .so の位置を上書きできます。graphics 系のシンボルは libtrapi.so では未解決ですが、RTLD_LAZY で dlopen する設計のため動作には影響しません。もし OSError が出たら、まず make -C tr libtrapi.so でビルドし直してください。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最小の hello world です。with Trlib() as tr で tr_init が呼ばれ、run(0) で tr_prep だけが走ります。この 0 ステップ実行は L-2 のスモークテストでも使われている合法な呼び方です。get_state で TrState を取り出せます。重要なのは Trlib() がプロセス内シングルトンになっていることです。libtrapi.so の COMMON ブロックがプロセス内で一つしか持てないため、二つ目の Trlib() を作るとリセットされる仕様になっています。with を抜けると自動で close、つまり tr_finalize が呼ばれます。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パラメータ設定には 3 種類のメソッドがあります。set_param が最も基本で、名前と数値を渡します。配列要素は PA[2] のように 1-origin の添字を文字列で書きます。Fortran の慣習に合わせています。2 次元配列は PNB[i,j] のような形でも書けます。これは tr_param_registry.f90 が解析します。set_param_str は文字列パラメータ専用で、KNAMEQ のような eqdata ファイル名を渡すときに使います。set_params はキーワード引数で複数のスカラーをまとめて設定できます。ただし Python の kwargs に [ や ] は書けないので、配列要素は必ず set_param を使ってください。set_params に PN__1 のような名前を渡すと TrlibError で弾く実装になっています。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tr.run の呼び出し意味論についてです。run(N) は tr_run(N) を呼んで N ステップ進めます。N=0 は tr_prep のみを起動する合法なケースで、L-2 スモークテストで使われています。重要なのは累積セマンティクスで、run(5) を呼んだあとに run(5) を呼ぶと、状態は run(10) と同じになります — 少なくとも設計上はそうなるはずです。次のスライドの注釈に検証結果プレースホルダを置いてあるので、親プロセスからの結果を埋めてください。tr_prep は init 直後に最初の run() で 1 度だけ呼ばれ、以降の run では呼ばれません。計算が発散・収束失敗した場合は ierr=3 が返り、TrlibRunError が投げられます。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get_state は TrState という dataclass を返します。属性として nt, nrmax, nsmax の整数、scalars 辞書 (13 個のスカラー)、それから 4 つのプロファイル配列を持ちます。RN / RT は 2 次元のネストリスト、AJ / QP は 1 次元です。numpy には依存していないので、to_dict() の結果はそのまま JSON にダンプできます。右側に JSON の形状を示しました。NT, NRMAX, NSMAX, scalars, profile という 5 つのトップレベルキーで、profile は NRMAX 個の辞書のリストになっています。この形状は Phase 0 baseline と完全一致するように設計されており、tools/compare_metrics.py でそのまま 1e-10 比較できます。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ライフサイクルの 3 パターンです。パターン 1 が推奨で、with 文に入れて自動 finalize させます。パターン 2 は明示的に close() を呼ぶ書き方で、冪等なので何度呼んでも安全です。パターン 3 はパラメータスイープのときの書き方で、毎回新しい Trlib() を開きます。libtrapi.so は COMMON ブロックを持つシングルトン状態なので、Trlib() を 2 個同時に開いても状態は共有されます。スイープでは毎ループで with を抜けて再 init することで、前回の状態漏れを防ぎます。ヒープ再利用による状態漏れも対策済みで、allocate_trcomm_profile で配列をゼロ初期化しています。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 namelist 入力ファイルから fixture モジュールへ転記する方法です。左が tr_tst2.in の抜粋で、右が python/trlib/tests/fixtures/tr_tst2_params.py の対応です。規約は単純で、3 つの辞書 SCALARS / ARRAYS / STRINGS に分類するだけです。ARRAYS では一部要素のみ指定したい場合は dict 形式 (例: PA: {2: 1.0})、1 から順に全要素を書く場合はリスト形式 (例: PN: [0.010, 0.010]) を使います。apply(tr) 関数で順番に set_param_str → set_param → 配列展開を呼びます。string が先なのは KNAMEQ などのファイル参照を tr_prep より前に読ませるためです。tr_iter01_params.py も同じ形式で書かれています。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パラメータスイープの実装例です。test_sweep.py を簡略化したもので、RR と BB を 3 段階ずつ振って 3×3 のグリッドを回します。ベースとなる物理パラメータは tr_iter01_params.apply(tr) で fixture から流し込み、RR と BB だけを上書きします。毎ループで Trlib() を with 文で開き直すのがポイントで、前回の COMMON 状態を完全にリセットしてから次のケースに入ります。MODELG=3 のケースでは eqdata.ITER01 を読むため、test_run/test_output/tr_iter01 に chdir する必要があります。Layer 4 テストでは結果の WPT が NaN や Inf にならないことを確認しています。この骨格をベースに scipy.optimize や bayesian-optimization と組み合わせて最適化することもできます。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プロット例です。matplotlib に直接 state.to_dict() を渡す書き方です。to_dict() の profile キーは長さ NRMAX のリストで、各要素が NR / RN / RT / AJ / QP を持ちます。ここでは radial 方向に温度プロファイルを描画しています。RT[0] が 1 種目で通常は電子、RT[1] が主イオンです。to_dict() は素の Python list と dict を返すので、numpy がなくても matplotlib に渡せます。Jupyter notebook であれば plt.show() でその場で可視化できます。tr.plot('RT') のような可視化 API は将来の visualization followup として保留中です。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デバッグ用の dump-and-diff 手法をご紹介します。tr/tr_dump_state.f90 が実装で、TR_DUMP_STATE 環境変数にファイルパスを設定するとそのファイルに状態をダンプします。未設定なら何もしないので、本番性能には一切影響しません。使い方は 3 ステップで、まずバイナリ tr2 で dump、次にライブラリ Python で同じ条件で dump、最後に diff コマンドで差分を取るだけです。tr_prep 末尾でフックされているため、binary と library の両方で同じタイミングのスナップショットが取れます。差分の読み方ですが、1e-307 のようなヒープゴミ値が出ていたら未初期化配列です。極小の ULP 差なら数値ドリフトで、それも累積上流の uninit が原因のことが多いです。片方ゼロ片方ゴミならフレッシュヒープの偶然で、ライブラリ側がバグを暴露しています。実例として、PNSS や PTSA の未初期化バグはこの方法で 1 発で局所化できました。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他モジュールへの拡張です。tr/fp/ti/wr/wrx/eq/tot の 7 モジュール全てが同じ API パターンで揃っています。Python パッケージ名は &lt;mod&gt;lib、クラス名は &lt;Mod&gt;lib という命名規則です。fixture 規約も共通で、SCALARS / ARRAYS / STRINGS の 3 辞書と apply(h) 関数を持ちます。tot は少し特殊で、他モジュールを namespace prefix で束ねる設計になっており、例えば 'eq:RR' と書くと eq モジュールの RR にアクセスできます。Layer 1 等価性テストと Layer 4 スイープテストも全モジュールで整備済みで、MCP サーバ (各モジュール 9 ツール) もこの API の上に構築されています。新しいモジュールを覚える際は trlib の感覚そのままで使えます。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 MCP サーバ経由での使い方をご紹介します。tr_mcp は FastMCP ベースの MCP サーバで、Claude Desktop や Claude Code、Cursor といった LLM クライアントから JSON-RPC 越しに呼び出せます。サーバの中身は trlib の Trlib クラスを薄くラップしたもので、最終的には libtrapi.so に到達します。公開しているツールは全部で 9 個ですが、覚えるべき中核は 5 つで、init / set_param / run /get_state / finalize の 5 段階フローです。これは前半で説明した Python API と全く同じ構造です。加えて bulk 設定の set_params、一発実行の run_and_get_state、そして LLM が自己発見的にパラメータや state 構造を学べる describe_parameters とdescribe_state_schema の 2 つの補助ツールが揃っています。サーバ名は task-tr で、1 プロセス 1 インスタンスの制約は trlib と同じです。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起動方法と LLM クライアントへの登録方法です。まず python/mcp-servers/tr_mcp に対して pip install -e でインストールし、別途 mcp パッケージも入れます。起動は python -m tr_mcp.server で stdio モードに入ります。動作確認には --print-tools オプションが便利で、登録済みの 9 ツールが列挙されます。Claude Desktop の場合は claude_desktop_config.json に mcpServers エントリを追加します。ここに示した JSON は説明用のサンプルですので、PYTHONPATH と TRLIB_PATH は皆さんの環境に合わせて絶対パスで書き換えてください。Claude Code であれば claude mcp add コマンドで CLI から一発登録できます。Cursor や VS Code でも command と args の指定は同じ要領です。トラブルシュートとしては libtrapi.so 未ビルド、mcp パッケージ未導入、PYTHONPATH 漏れの 3 つが代表的です。もう一つ重要なのは stdout 汚染で、MCP は標準入出力で JSON-RPC を流すため、Fortran 側の print 出力が混入するとクライアントが parse error を起こします。tr_mcp はレスポンス以外を stdout に出さない設計になっており、Fortran ログは scratch unit に逃がしてあります。新しく WRITE(6,*) を追加した場合はこの設計を破らないよう注意してください。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 LLM 経由での実行例です。左がチャット風のログで、ユーザが「ITER ベースで NSMAX=4, RR=6.2, BB=5.3 で 100 ステップ走らせてTE プロファイルだけ返して」と自然言語で依頼するシナリオです。LLM は事前に describe_parameters で名前と型を確認したうえで、右側に示した JSON-RPC 呼び出し列に展開してくれます。順序は init、set_params で 3 つのスカラーをまとめて設定、run(100) で 100 ステップ進行、get_state で結果取得、最後に必要なら finalize、という流れです。示した数値 TE(0)=15.2 keV などは説明用の架空値ですので、実物の値とは異なります。運用上の注意として、stdio トランスポートは同一マシン内のローカル通信ですので、リモートから呼ばせたい場合は SSH トンネルなど別途認可機構を挟んでください。また run(N) は同期呼び出しなので、N が大きく時間がかかる場合はクライアント側のタイムアウト設定を伸ばしておく必要があります。本日のお話は以上で、最後にまとめスライドに進みます。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まとめです。trlib は 5 行で TR 計算を回せる薄いラッパーで、with Trlib() as tr というコンテキストマネージャ、3 種類のパラメータ設定メソッド、そして to_dict() で素の Python オブジェクトとして状態を取り出せます。デバッグは TR_DUMP_STATE による dump-and-diff が一番確実な手法です。他のモジュールも全く同じ API パターンなので、trlib に慣れれば fplib / wrlib などもそのまま使えます。参考リンクは表のとおりで、まずは README.md と test_equivalence.py を見ると実際の使い方がよく分かると思います。ご清聴ありがとうございました。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210312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1277295" cy="1097280"/>
          </a:xfrm>
          <a:prstGeom prst="rect">
            <a:avLst/>
          </a:prstGeom>
          <a:noFill/>
        </p:spPr>
        <p:txBody>
          <a:bodyPr wrap="square" lIns="36000" rIns="36000" tIns="18000" bIns="18000" anchor="t">
            <a:spAutoFit/>
          </a:bodyPr>
          <a:lstStyle/>
          <a:p>
            <a:pPr algn="ctr"/>
            <a:r>
              <a:rPr sz="4000" b="1">
                <a:solidFill>
                  <a:srgbClr val="FFFFFF"/>
                </a:solidFill>
                <a:latin typeface="Noto Sans CJK JP"/>
              </a:rPr>
              <a:t>trlib (TASK/TR Python wrapper)</a:t>
            </a:r>
          </a:p>
          <a:p>
            <a:pPr algn="ctr"/>
            <a:r>
              <a:rPr sz="4000" b="1">
                <a:solidFill>
                  <a:srgbClr val="FFFFFF"/>
                </a:solidFill>
                <a:latin typeface="Noto Sans CJK JP"/>
              </a:rPr>
              <a:t>使い方ガイド</a:t>
            </a:r>
          </a:p>
        </p:txBody>
      </p:sp>
      <p:sp>
        <p:nvSpPr>
          <p:cNvPr id="5" name="TextBox 4"/>
          <p:cNvSpPr txBox="1"/>
          <p:nvPr/>
        </p:nvSpPr>
        <p:spPr>
          <a:xfrm>
            <a:off x="457200" y="3611880"/>
            <a:ext cx="11277295" cy="548640"/>
          </a:xfrm>
          <a:prstGeom prst="rect">
            <a:avLst/>
          </a:prstGeom>
          <a:noFill/>
        </p:spPr>
        <p:txBody>
          <a:bodyPr wrap="square" lIns="36000" rIns="36000" tIns="18000" bIns="18000" anchor="t">
            <a:spAutoFit/>
          </a:bodyPr>
          <a:lstStyle/>
          <a:p>
            <a:pPr algn="ctr"/>
            <a:r>
              <a:rPr sz="2200" b="0">
                <a:solidFill>
                  <a:srgbClr val="FFFFFF"/>
                </a:solidFill>
                <a:latin typeface="Noto Sans CJK JP"/>
              </a:rPr>
              <a:t>Python から TASK/TR プラズマ輸送計算を駆動する</a:t>
            </a:r>
          </a:p>
        </p:txBody>
      </p:sp>
      <p:sp>
        <p:nvSpPr>
          <p:cNvPr id="6" name="TextBox 5"/>
          <p:cNvSpPr txBox="1"/>
          <p:nvPr/>
        </p:nvSpPr>
        <p:spPr>
          <a:xfrm>
            <a:off x="457200" y="4572000"/>
            <a:ext cx="11277295" cy="457200"/>
          </a:xfrm>
          <a:prstGeom prst="rect">
            <a:avLst/>
          </a:prstGeom>
          <a:noFill/>
        </p:spPr>
        <p:txBody>
          <a:bodyPr wrap="square" lIns="36000" rIns="36000" tIns="18000" bIns="18000" anchor="t">
            <a:spAutoFit/>
          </a:bodyPr>
          <a:lstStyle/>
          <a:p>
            <a:pPr algn="ctr"/>
            <a:r>
              <a:rPr sz="1600" b="0">
                <a:solidFill>
                  <a:srgbClr val="555555"/>
                </a:solidFill>
                <a:latin typeface="Noto Sans CJK JP"/>
              </a:rPr>
              <a:t>発表日: 2026 年 4 月 20 日</a:t>
            </a:r>
          </a:p>
        </p:txBody>
      </p:sp>
      <p:sp>
        <p:nvSpPr>
          <p:cNvPr id="7" name="TextBox 6"/>
          <p:cNvSpPr txBox="1"/>
          <p:nvPr/>
        </p:nvSpPr>
        <p:spPr>
          <a:xfrm>
            <a:off x="457200" y="5029200"/>
            <a:ext cx="11277295" cy="457200"/>
          </a:xfrm>
          <a:prstGeom prst="rect">
            <a:avLst/>
          </a:prstGeom>
          <a:noFill/>
        </p:spPr>
        <p:txBody>
          <a:bodyPr wrap="square" lIns="36000" rIns="36000" tIns="18000" bIns="18000" anchor="t">
            <a:spAutoFit/>
          </a:bodyPr>
          <a:lstStyle/>
          <a:p>
            <a:pPr algn="ctr"/>
            <a:r>
              <a:rPr sz="1600" b="0">
                <a:solidFill>
                  <a:srgbClr val="555555"/>
                </a:solidFill>
                <a:latin typeface="Noto Sans CJK JP"/>
              </a:rPr>
              <a:t>発表者: &lt;発表者名&gt;</a:t>
            </a:r>
          </a:p>
        </p:txBody>
      </p:sp>
      <p:sp>
        <p:nvSpPr>
          <p:cNvPr id="8" name="TextBox 7"/>
          <p:cNvSpPr txBox="1"/>
          <p:nvPr/>
        </p:nvSpPr>
        <p:spPr>
          <a:xfrm>
            <a:off x="457200" y="6035040"/>
            <a:ext cx="11277295" cy="365760"/>
          </a:xfrm>
          <a:prstGeom prst="rect">
            <a:avLst/>
          </a:prstGeom>
          <a:noFill/>
        </p:spPr>
        <p:txBody>
          <a:bodyPr wrap="square" lIns="36000" rIns="36000" tIns="18000" bIns="18000" anchor="t">
            <a:spAutoFit/>
          </a:bodyPr>
          <a:lstStyle/>
          <a:p>
            <a:pPr algn="ctr"/>
            <a:r>
              <a:rPr sz="1200" b="0">
                <a:solidFill>
                  <a:srgbClr val="555555"/>
                </a:solidFill>
                <a:latin typeface="Noto Sans CJK JP"/>
              </a:rPr>
              <a:t>対象: tr/libtrapi.so + python/trlib (Layer 1 1e-10 等価性確認済)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全体像: tr2 バイナリ vs libtrapi.so + trlib</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Fortran カーネルは共通、利用形態だけが変わる</a:t>
            </a:r>
          </a:p>
        </p:txBody>
      </p:sp>
      <p:sp>
        <p:nvSpPr>
          <p:cNvPr id="5" name="Rounded Rectangle 4"/>
          <p:cNvSpPr/>
          <p:nvPr/>
        </p:nvSpPr>
        <p:spPr>
          <a:xfrm>
            <a:off x="365760" y="1828800"/>
            <a:ext cx="2468880" cy="13716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namelist .in</a:t>
            </a:r>
          </a:p>
          <a:p>
            <a:pPr algn="ctr"/>
            <a:r>
              <a:rPr sz="1100">
                <a:solidFill>
                  <a:srgbClr val="FFFFFF"/>
                </a:solidFill>
                <a:latin typeface="Noto Sans CJK JP"/>
              </a:rPr>
              <a:t>test_run/inputs/</a:t>
            </a:r>
          </a:p>
          <a:p>
            <a:pPr algn="ctr"/>
            <a:r>
              <a:rPr sz="1100">
                <a:solidFill>
                  <a:srgbClr val="FFFFFF"/>
                </a:solidFill>
                <a:latin typeface="Noto Sans CJK JP"/>
              </a:rPr>
              <a:t>tr_tst2.in など</a:t>
            </a:r>
          </a:p>
        </p:txBody>
      </p:sp>
      <p:sp>
        <p:nvSpPr>
          <p:cNvPr id="6" name="Rounded Rectangle 5"/>
          <p:cNvSpPr/>
          <p:nvPr/>
        </p:nvSpPr>
        <p:spPr>
          <a:xfrm>
            <a:off x="3200400" y="1828800"/>
            <a:ext cx="2468880" cy="137160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tr2 バイナリ</a:t>
            </a:r>
          </a:p>
          <a:p>
            <a:pPr algn="ctr"/>
            <a:r>
              <a:rPr sz="1100">
                <a:solidFill>
                  <a:srgbClr val="FFFFFF"/>
                </a:solidFill>
                <a:latin typeface="Noto Sans CJK JP"/>
              </a:rPr>
              <a:t>対話メニュー</a:t>
            </a:r>
          </a:p>
          <a:p>
            <a:pPr algn="ctr"/>
            <a:r>
              <a:rPr sz="1100">
                <a:solidFill>
                  <a:srgbClr val="FFFFFF"/>
                </a:solidFill>
                <a:latin typeface="Noto Sans CJK JP"/>
              </a:rPr>
              <a:t>+ 標準入出力</a:t>
            </a:r>
          </a:p>
        </p:txBody>
      </p:sp>
      <p:sp>
        <p:nvSpPr>
          <p:cNvPr id="7" name="Rounded Rectangle 6"/>
          <p:cNvSpPr/>
          <p:nvPr/>
        </p:nvSpPr>
        <p:spPr>
          <a:xfrm>
            <a:off x="6035040" y="1828800"/>
            <a:ext cx="2468880" cy="13716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ファイル出力</a:t>
            </a:r>
          </a:p>
          <a:p>
            <a:pPr algn="ctr"/>
            <a:r>
              <a:rPr sz="1100">
                <a:solidFill>
                  <a:srgbClr val="FFFFFF"/>
                </a:solidFill>
                <a:latin typeface="Noto Sans CJK JP"/>
              </a:rPr>
              <a:t>tr2.&lt;case&gt;.gs</a:t>
            </a:r>
          </a:p>
          <a:p>
            <a:pPr algn="ctr"/>
            <a:r>
              <a:rPr sz="1100">
                <a:solidFill>
                  <a:srgbClr val="FFFFFF"/>
                </a:solidFill>
                <a:latin typeface="Noto Sans CJK JP"/>
              </a:rPr>
              <a:t>regression.log</a:t>
            </a:r>
          </a:p>
        </p:txBody>
      </p:sp>
      <p:sp>
        <p:nvSpPr>
          <p:cNvPr id="8" name="TextBox 7"/>
          <p:cNvSpPr txBox="1"/>
          <p:nvPr/>
        </p:nvSpPr>
        <p:spPr>
          <a:xfrm>
            <a:off x="8778240" y="2148840"/>
            <a:ext cx="3108960" cy="822960"/>
          </a:xfrm>
          <a:prstGeom prst="rect">
            <a:avLst/>
          </a:prstGeom>
          <a:noFill/>
        </p:spPr>
        <p:txBody>
          <a:bodyPr wrap="square" lIns="36000" rIns="36000" tIns="18000" bIns="18000" anchor="t">
            <a:spAutoFit/>
          </a:bodyPr>
          <a:lstStyle/>
          <a:p>
            <a:pPr algn="l"/>
            <a:r>
              <a:rPr sz="1200" b="0">
                <a:solidFill>
                  <a:srgbClr val="555555"/>
                </a:solidFill>
                <a:latin typeface="Noto Sans CJK JP"/>
              </a:rPr>
              <a:t>従来 (CLI):</a:t>
            </a:r>
          </a:p>
          <a:p>
            <a:pPr algn="l"/>
            <a:r>
              <a:rPr sz="1200" b="0">
                <a:solidFill>
                  <a:srgbClr val="555555"/>
                </a:solidFill>
                <a:latin typeface="Noto Sans CJK JP"/>
              </a:rPr>
              <a:t>対話 + namelist 一発実行</a:t>
            </a:r>
          </a:p>
        </p:txBody>
      </p:sp>
      <p:cxnSp>
        <p:nvCxnSpPr>
          <p:cNvPr id="9" name="Connector 8"/>
          <p:cNvCxnSpPr/>
          <p:nvPr/>
        </p:nvCxnSpPr>
        <p:spPr>
          <a:xfrm>
            <a:off x="2834640" y="251460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669280" y="251460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4206240"/>
            <a:ext cx="2468880" cy="137160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Python スクリプト</a:t>
            </a:r>
          </a:p>
          <a:p>
            <a:pPr algn="ctr"/>
            <a:r>
              <a:rPr sz="1100">
                <a:solidFill>
                  <a:srgbClr val="FFFFFF"/>
                </a:solidFill>
                <a:latin typeface="Noto Sans CJK JP"/>
              </a:rPr>
              <a:t>from trlib import Trlib</a:t>
            </a:r>
          </a:p>
          <a:p>
            <a:pPr algn="ctr"/>
            <a:r>
              <a:rPr sz="1100">
                <a:solidFill>
                  <a:srgbClr val="FFFFFF"/>
                </a:solidFill>
                <a:latin typeface="Noto Sans CJK JP"/>
              </a:rPr>
              <a:t>with Trlib() as tr:</a:t>
            </a:r>
          </a:p>
        </p:txBody>
      </p:sp>
      <p:sp>
        <p:nvSpPr>
          <p:cNvPr id="12" name="Rounded Rectangle 11"/>
          <p:cNvSpPr/>
          <p:nvPr/>
        </p:nvSpPr>
        <p:spPr>
          <a:xfrm>
            <a:off x="3200400" y="4206240"/>
            <a:ext cx="2468880" cy="1371600"/>
          </a:xfrm>
          <a:prstGeom prst="roundRect">
            <a:avLst/>
          </a:prstGeom>
          <a:solidFill>
            <a:srgbClr val="2E7D32"/>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libtrapi.so</a:t>
            </a:r>
          </a:p>
          <a:p>
            <a:pPr algn="ctr"/>
            <a:r>
              <a:rPr sz="1000">
                <a:solidFill>
                  <a:srgbClr val="FFFFFF"/>
                </a:solidFill>
                <a:latin typeface="Noto Sans CJK JP"/>
              </a:rPr>
              <a:t>BIND(C) 5 関数</a:t>
            </a:r>
          </a:p>
          <a:p>
            <a:pPr algn="ctr"/>
            <a:r>
              <a:rPr sz="1000">
                <a:solidFill>
                  <a:srgbClr val="FFFFFF"/>
                </a:solidFill>
                <a:latin typeface="Noto Sans CJK JP"/>
              </a:rPr>
              <a:t>tr_init / tr_set_param /</a:t>
            </a:r>
          </a:p>
          <a:p>
            <a:pPr algn="ctr"/>
            <a:r>
              <a:rPr sz="1000">
                <a:solidFill>
                  <a:srgbClr val="FFFFFF"/>
                </a:solidFill>
                <a:latin typeface="Noto Sans CJK JP"/>
              </a:rPr>
              <a:t>tr_run / tr_get_state /</a:t>
            </a:r>
          </a:p>
          <a:p>
            <a:pPr algn="ctr"/>
            <a:r>
              <a:rPr sz="1000">
                <a:solidFill>
                  <a:srgbClr val="FFFFFF"/>
                </a:solidFill>
                <a:latin typeface="Noto Sans CJK JP"/>
              </a:rPr>
              <a:t>tr_finalize</a:t>
            </a:r>
          </a:p>
        </p:txBody>
      </p:sp>
      <p:sp>
        <p:nvSpPr>
          <p:cNvPr id="13" name="Rounded Rectangle 12"/>
          <p:cNvSpPr/>
          <p:nvPr/>
        </p:nvSpPr>
        <p:spPr>
          <a:xfrm>
            <a:off x="6035040" y="4206240"/>
            <a:ext cx="2468880" cy="137160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Fortran カーネル</a:t>
            </a:r>
          </a:p>
          <a:p>
            <a:pPr algn="ctr"/>
            <a:r>
              <a:rPr sz="1100">
                <a:solidFill>
                  <a:srgbClr val="FFFFFF"/>
                </a:solidFill>
                <a:latin typeface="Noto Sans CJK JP"/>
              </a:rPr>
              <a:t>TR* 計算ルーチン</a:t>
            </a:r>
          </a:p>
          <a:p>
            <a:pPr algn="ctr"/>
            <a:r>
              <a:rPr sz="1100">
                <a:solidFill>
                  <a:srgbClr val="FFFFFF"/>
                </a:solidFill>
                <a:latin typeface="Noto Sans CJK JP"/>
              </a:rPr>
              <a:t>(CLI と同一コード)</a:t>
            </a:r>
          </a:p>
        </p:txBody>
      </p:sp>
      <p:sp>
        <p:nvSpPr>
          <p:cNvPr id="14" name="Rounded Rectangle 13"/>
          <p:cNvSpPr/>
          <p:nvPr/>
        </p:nvSpPr>
        <p:spPr>
          <a:xfrm>
            <a:off x="8869680" y="4206240"/>
            <a:ext cx="2468880" cy="137160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TrState</a:t>
            </a:r>
          </a:p>
          <a:p>
            <a:pPr algn="ctr"/>
            <a:r>
              <a:rPr sz="1100">
                <a:solidFill>
                  <a:srgbClr val="FFFFFF"/>
                </a:solidFill>
                <a:latin typeface="Noto Sans CJK JP"/>
              </a:rPr>
              <a:t>dataclass</a:t>
            </a:r>
          </a:p>
          <a:p>
            <a:pPr algn="ctr"/>
            <a:r>
              <a:rPr sz="1100">
                <a:solidFill>
                  <a:srgbClr val="FFFFFF"/>
                </a:solidFill>
                <a:latin typeface="Noto Sans CJK JP"/>
              </a:rPr>
              <a:t>.scalars / .RN / .RT</a:t>
            </a:r>
          </a:p>
          <a:p>
            <a:pPr algn="ctr"/>
            <a:r>
              <a:rPr sz="1100">
                <a:solidFill>
                  <a:srgbClr val="FFFFFF"/>
                </a:solidFill>
                <a:latin typeface="Noto Sans CJK JP"/>
              </a:rPr>
              <a:t>.AJ / .QP</a:t>
            </a:r>
          </a:p>
        </p:txBody>
      </p:sp>
      <p:cxnSp>
        <p:nvCxnSpPr>
          <p:cNvPr id="15" name="Connector 14"/>
          <p:cNvCxnSpPr/>
          <p:nvPr/>
        </p:nvCxnSpPr>
        <p:spPr>
          <a:xfrm>
            <a:off x="2834640" y="4892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194560" y="4663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ctypes</a:t>
            </a:r>
          </a:p>
        </p:txBody>
      </p:sp>
      <p:cxnSp>
        <p:nvCxnSpPr>
          <p:cNvPr id="17" name="Connector 16"/>
          <p:cNvCxnSpPr/>
          <p:nvPr/>
        </p:nvCxnSpPr>
        <p:spPr>
          <a:xfrm>
            <a:off x="5669280" y="4892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0" y="4663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同一コア</a:t>
            </a:r>
          </a:p>
        </p:txBody>
      </p:sp>
      <p:cxnSp>
        <p:nvCxnSpPr>
          <p:cNvPr id="19" name="Connector 18"/>
          <p:cNvCxnSpPr/>
          <p:nvPr/>
        </p:nvCxnSpPr>
        <p:spPr>
          <a:xfrm>
            <a:off x="8503920" y="4892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63840" y="4663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get_state</a:t>
            </a:r>
          </a:p>
        </p:txBody>
      </p:sp>
      <p:sp>
        <p:nvSpPr>
          <p:cNvPr id="21" name="TextBox 20"/>
          <p:cNvSpPr txBox="1"/>
          <p:nvPr/>
        </p:nvSpPr>
        <p:spPr>
          <a:xfrm>
            <a:off x="365760" y="5852160"/>
            <a:ext cx="11430000" cy="822960"/>
          </a:xfrm>
          <a:prstGeom prst="rect">
            <a:avLst/>
          </a:prstGeom>
          <a:noFill/>
        </p:spPr>
        <p:txBody>
          <a:bodyPr wrap="square" lIns="36000" rIns="36000" tIns="18000" bIns="18000" anchor="t">
            <a:spAutoFit/>
          </a:bodyPr>
          <a:lstStyle/>
          <a:p>
            <a:pPr algn="l"/>
            <a:r>
              <a:rPr sz="1200" b="0">
                <a:solidFill>
                  <a:srgbClr val="555555"/>
                </a:solidFill>
                <a:latin typeface="Noto Sans CJK JP"/>
              </a:rPr>
              <a:t>ポイント: Fortran カーネルは tr2 / libtrapi.so で同一実装。trlib は ctypes 越しに 5 つの C ABI 関数を呼ぶ薄い層で、状態は TrState dataclass で受け取ります。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ビルド手順</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libtrapi.so の準備と Python パスの通し方</a:t>
            </a:r>
          </a:p>
        </p:txBody>
      </p:sp>
      <p:sp>
        <p:nvSpPr>
          <p:cNvPr id="5" name="Rectangle 4"/>
          <p:cNvSpPr/>
          <p:nvPr/>
        </p:nvSpPr>
        <p:spPr>
          <a:xfrm>
            <a:off x="365760" y="1188720"/>
            <a:ext cx="6949440" cy="438912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400" b="1">
                <a:solidFill>
                  <a:srgbClr val="555555"/>
                </a:solidFill>
                <a:latin typeface="Noto Sans CJK JP"/>
              </a:rPr>
              <a:t>シェル手順</a:t>
            </a:r>
          </a:p>
          <a:p>
            <a:r>
              <a:rPr sz="1300">
                <a:solidFill>
                  <a:srgbClr val="101010"/>
                </a:solidFill>
                <a:latin typeface="DejaVu Sans Mono"/>
              </a:rPr>
              <a:t># 1. 共有ライブラリのビルド</a:t>
            </a:r>
          </a:p>
          <a:p>
            <a:r>
              <a:rPr sz="1300">
                <a:solidFill>
                  <a:srgbClr val="101010"/>
                </a:solidFill>
                <a:latin typeface="DejaVu Sans Mono"/>
              </a:rPr>
              <a:t>$ make -C tr libtrapi.so</a:t>
            </a:r>
          </a:p>
          <a:p>
            <a:r>
              <a:rPr sz="1300">
                <a:solidFill>
                  <a:srgbClr val="101010"/>
                </a:solidFill>
                <a:latin typeface="DejaVu Sans Mono"/>
              </a:rPr>
              <a:t>  → tr/libtrapi.so が生成されます</a:t>
            </a:r>
          </a:p>
          <a:p>
            <a:r>
              <a:rPr sz="1300">
                <a:solidFill>
                  <a:srgbClr val="101010"/>
                </a:solidFill>
                <a:latin typeface="DejaVu Sans Mono"/>
              </a:rPr>
              <a:t> </a:t>
            </a:r>
          </a:p>
          <a:p>
            <a:r>
              <a:rPr sz="1300">
                <a:solidFill>
                  <a:srgbClr val="101010"/>
                </a:solidFill>
                <a:latin typeface="DejaVu Sans Mono"/>
              </a:rPr>
              <a:t># 2. Python パスを通す (リポジトリルートから)</a:t>
            </a:r>
          </a:p>
          <a:p>
            <a:r>
              <a:rPr sz="1300">
                <a:solidFill>
                  <a:srgbClr val="101010"/>
                </a:solidFill>
                <a:latin typeface="DejaVu Sans Mono"/>
              </a:rPr>
              <a:t>$ export PYTHONPATH=$PWD/python</a:t>
            </a:r>
          </a:p>
          <a:p>
            <a:r>
              <a:rPr sz="1300">
                <a:solidFill>
                  <a:srgbClr val="101010"/>
                </a:solidFill>
                <a:latin typeface="DejaVu Sans Mono"/>
              </a:rPr>
              <a:t> </a:t>
            </a:r>
          </a:p>
          <a:p>
            <a:r>
              <a:rPr sz="1300">
                <a:solidFill>
                  <a:srgbClr val="101010"/>
                </a:solidFill>
                <a:latin typeface="DejaVu Sans Mono"/>
              </a:rPr>
              <a:t># 3. 動作確認</a:t>
            </a:r>
          </a:p>
          <a:p>
            <a:r>
              <a:rPr sz="1300">
                <a:solidFill>
                  <a:srgbClr val="101010"/>
                </a:solidFill>
                <a:latin typeface="DejaVu Sans Mono"/>
              </a:rPr>
              <a:t>$ python3 -c 'from trlib import Trlib; print(Trlib)'</a:t>
            </a:r>
          </a:p>
          <a:p>
            <a:r>
              <a:rPr sz="1300">
                <a:solidFill>
                  <a:srgbClr val="101010"/>
                </a:solidFill>
                <a:latin typeface="DejaVu Sans Mono"/>
              </a:rPr>
              <a:t>  &lt;class 'trlib.trlib.Trlib'&gt;</a:t>
            </a:r>
          </a:p>
          <a:p>
            <a:r>
              <a:rPr sz="1300">
                <a:solidFill>
                  <a:srgbClr val="101010"/>
                </a:solidFill>
                <a:latin typeface="DejaVu Sans Mono"/>
              </a:rPr>
              <a:t> </a:t>
            </a:r>
          </a:p>
          <a:p>
            <a:r>
              <a:rPr sz="1300">
                <a:solidFill>
                  <a:srgbClr val="101010"/>
                </a:solidFill>
                <a:latin typeface="DejaVu Sans Mono"/>
              </a:rPr>
              <a:t># 4. デフォルト .so 検索パスを上書きしたい場合</a:t>
            </a:r>
          </a:p>
          <a:p>
            <a:r>
              <a:rPr sz="1300">
                <a:solidFill>
                  <a:srgbClr val="101010"/>
                </a:solidFill>
                <a:latin typeface="DejaVu Sans Mono"/>
              </a:rPr>
              <a:t>$ export TRLIB_LIBRARY=/path/to/libtrapi.so</a:t>
            </a:r>
          </a:p>
          <a:p>
            <a:r>
              <a:rPr sz="1300">
                <a:solidFill>
                  <a:srgbClr val="101010"/>
                </a:solidFill>
                <a:latin typeface="DejaVu Sans Mono"/>
              </a:rPr>
              <a:t>  あるいは Trlib(lib_path='/path/to/libtrapi.so')</a:t>
            </a:r>
          </a:p>
          <a:p>
            <a:r>
              <a:rPr sz="1300">
                <a:solidFill>
                  <a:srgbClr val="101010"/>
                </a:solidFill>
                <a:latin typeface="DejaVu Sans Mono"/>
              </a:rPr>
              <a:t> </a:t>
            </a:r>
          </a:p>
        </p:txBody>
      </p:sp>
      <p:sp>
        <p:nvSpPr>
          <p:cNvPr id="6" name="TextBox 5"/>
          <p:cNvSpPr txBox="1"/>
          <p:nvPr/>
        </p:nvSpPr>
        <p:spPr>
          <a:xfrm>
            <a:off x="7498079" y="1188720"/>
            <a:ext cx="4389120" cy="4389120"/>
          </a:xfrm>
          <a:prstGeom prst="rect">
            <a:avLst/>
          </a:prstGeom>
          <a:noFill/>
        </p:spPr>
        <p:txBody>
          <a:bodyPr wrap="square" lIns="36000" rIns="36000" tIns="18000" bIns="18000">
            <a:spAutoFit/>
          </a:bodyPr>
          <a:lstStyle/>
          <a:p>
            <a:pPr algn="l">
              <a:spcAft>
                <a:spcPts val="600"/>
              </a:spcAft>
            </a:pPr>
            <a:r>
              <a:rPr sz="1400">
                <a:solidFill>
                  <a:srgbClr val="101010"/>
                </a:solidFill>
                <a:latin typeface="Noto Sans CJK JP"/>
              </a:rPr>
              <a:t>・ 依存: gfortran, lapack, blas (CLI と同じ)。</a:t>
            </a:r>
          </a:p>
          <a:p>
            <a:pPr algn="l">
              <a:spcAft>
                <a:spcPts val="600"/>
              </a:spcAft>
            </a:pPr>
            <a:r>
              <a:rPr sz="1400">
                <a:solidFill>
                  <a:srgbClr val="101010"/>
                </a:solidFill>
                <a:latin typeface="Noto Sans CJK JP"/>
              </a:rPr>
              <a:t>・ PIC ビルドのため標準 Makefile で完結。</a:t>
            </a:r>
          </a:p>
          <a:p>
            <a:pPr algn="l">
              <a:spcAft>
                <a:spcPts val="600"/>
              </a:spcAft>
            </a:pPr>
            <a:r>
              <a:rPr sz="1400">
                <a:solidFill>
                  <a:srgbClr val="101010"/>
                </a:solidFill>
                <a:latin typeface="Noto Sans CJK JP"/>
              </a:rPr>
              <a:t>・ graphics シンボルは未解決のままでも dlopen 可。</a:t>
            </a:r>
          </a:p>
          <a:p>
            <a:pPr algn="l">
              <a:spcAft>
                <a:spcPts val="600"/>
              </a:spcAft>
            </a:pPr>
            <a:r>
              <a:rPr sz="1400">
                <a:solidFill>
                  <a:srgbClr val="101010"/>
                </a:solidFill>
                <a:latin typeface="Noto Sans CJK JP"/>
              </a:rPr>
              <a:t>・ Python は 3.8+ で動作確認済み。</a:t>
            </a:r>
          </a:p>
          <a:p>
            <a:pPr algn="l">
              <a:spcAft>
                <a:spcPts val="600"/>
              </a:spcAft>
            </a:pPr>
            <a:r>
              <a:rPr sz="1400">
                <a:solidFill>
                  <a:srgbClr val="101010"/>
                </a:solidFill>
                <a:latin typeface="Noto Sans CJK JP"/>
              </a:rPr>
              <a:t>・ ctypes のみを使うため追加 pip install は不要。</a:t>
            </a:r>
          </a:p>
        </p:txBody>
      </p:sp>
      <p:sp>
        <p:nvSpPr>
          <p:cNvPr id="7" name="Rounded Rectangle 6"/>
          <p:cNvSpPr/>
          <p:nvPr/>
        </p:nvSpPr>
        <p:spPr>
          <a:xfrm>
            <a:off x="365760" y="5760720"/>
            <a:ext cx="11430000" cy="822960"/>
          </a:xfrm>
          <a:prstGeom prst="roundRect">
            <a:avLst/>
          </a:prstGeom>
          <a:solidFill>
            <a:srgbClr val="C62828"/>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トラブル: libtrapi.so not built</a:t>
            </a:r>
          </a:p>
          <a:p>
            <a:pPr algn="ctr"/>
            <a:r>
              <a:rPr sz="1100">
                <a:solidFill>
                  <a:srgbClr val="FFFFFF"/>
                </a:solidFill>
                <a:latin typeface="Noto Sans CJK JP"/>
              </a:rPr>
              <a:t>Trlib() で OSError: libtrapi.so not found → make -C tr libtrapi.so を再実行。CLEAN ビルドは make -C tr clean.libtrapi.so から。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Hello world: 5 行で TR を駆動</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with Trlib() as tr: tr.run(0); state = tr.get_state()</a:t>
            </a:r>
          </a:p>
        </p:txBody>
      </p:sp>
      <p:sp>
        <p:nvSpPr>
          <p:cNvPr id="5" name="Rectangle 4"/>
          <p:cNvSpPr/>
          <p:nvPr/>
        </p:nvSpPr>
        <p:spPr>
          <a:xfrm>
            <a:off x="365760" y="1188720"/>
            <a:ext cx="6766560" cy="32004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500" b="1">
                <a:solidFill>
                  <a:srgbClr val="555555"/>
                </a:solidFill>
                <a:latin typeface="Noto Sans CJK JP"/>
              </a:rPr>
              <a:t>hello.py</a:t>
            </a:r>
          </a:p>
          <a:p>
            <a:r>
              <a:rPr sz="1400">
                <a:solidFill>
                  <a:srgbClr val="101010"/>
                </a:solidFill>
                <a:latin typeface="DejaVu Sans Mono"/>
              </a:rPr>
              <a:t>from trlib import Trlib</a:t>
            </a:r>
          </a:p>
          <a:p>
            <a:r>
              <a:rPr sz="1400">
                <a:solidFill>
                  <a:srgbClr val="101010"/>
                </a:solidFill>
                <a:latin typeface="DejaVu Sans Mono"/>
              </a:rPr>
              <a:t> </a:t>
            </a:r>
          </a:p>
          <a:p>
            <a:r>
              <a:rPr sz="1400">
                <a:solidFill>
                  <a:srgbClr val="101010"/>
                </a:solidFill>
                <a:latin typeface="DejaVu Sans Mono"/>
              </a:rPr>
              <a:t>with Trlib() as tr:</a:t>
            </a:r>
          </a:p>
          <a:p>
            <a:r>
              <a:rPr sz="1400">
                <a:solidFill>
                  <a:srgbClr val="101010"/>
                </a:solidFill>
                <a:latin typeface="DejaVu Sans Mono"/>
              </a:rPr>
              <a:t>    tr.run(0)              # tr_prep のみを起動 (0 ステップ)</a:t>
            </a:r>
          </a:p>
          <a:p>
            <a:r>
              <a:rPr sz="1400">
                <a:solidFill>
                  <a:srgbClr val="101010"/>
                </a:solidFill>
                <a:latin typeface="DejaVu Sans Mono"/>
              </a:rPr>
              <a:t>    state = tr.get_state() # TrState を取得</a:t>
            </a:r>
          </a:p>
          <a:p>
            <a:r>
              <a:rPr sz="1400">
                <a:solidFill>
                  <a:srgbClr val="101010"/>
                </a:solidFill>
                <a:latin typeface="DejaVu Sans Mono"/>
              </a:rPr>
              <a:t> </a:t>
            </a:r>
          </a:p>
          <a:p>
            <a:r>
              <a:rPr sz="1400">
                <a:solidFill>
                  <a:srgbClr val="101010"/>
                </a:solidFill>
                <a:latin typeface="DejaVu Sans Mono"/>
              </a:rPr>
              <a:t>print(state.nrmax, state.nsmax, state.nt)</a:t>
            </a:r>
          </a:p>
          <a:p>
            <a:r>
              <a:rPr sz="1400">
                <a:solidFill>
                  <a:srgbClr val="101010"/>
                </a:solidFill>
                <a:latin typeface="DejaVu Sans Mono"/>
              </a:rPr>
              <a:t>print(state.scalars['T'], state.scalars['WPT'])</a:t>
            </a:r>
          </a:p>
          <a:p>
            <a:r>
              <a:rPr sz="1400">
                <a:solidFill>
                  <a:srgbClr val="101010"/>
                </a:solidFill>
                <a:latin typeface="DejaVu Sans Mono"/>
              </a:rPr>
              <a:t> </a:t>
            </a:r>
          </a:p>
        </p:txBody>
      </p:sp>
      <p:sp>
        <p:nvSpPr>
          <p:cNvPr id="6" name="Rounded Rectangle 5"/>
          <p:cNvSpPr/>
          <p:nvPr/>
        </p:nvSpPr>
        <p:spPr>
          <a:xfrm>
            <a:off x="7406640" y="1188720"/>
            <a:ext cx="4389120" cy="82296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init</a:t>
            </a:r>
          </a:p>
          <a:p>
            <a:pPr algn="ctr"/>
            <a:r>
              <a:rPr sz="1100">
                <a:solidFill>
                  <a:srgbClr val="FFFFFF"/>
                </a:solidFill>
                <a:latin typeface="Noto Sans CJK JP"/>
              </a:rPr>
              <a:t>with Trlib() as tr</a:t>
            </a:r>
          </a:p>
        </p:txBody>
      </p:sp>
      <p:sp>
        <p:nvSpPr>
          <p:cNvPr id="7" name="Rounded Rectangle 6"/>
          <p:cNvSpPr/>
          <p:nvPr/>
        </p:nvSpPr>
        <p:spPr>
          <a:xfrm>
            <a:off x="7406640" y="2148840"/>
            <a:ext cx="4389120" cy="82296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(set_param)</a:t>
            </a:r>
          </a:p>
          <a:p>
            <a:pPr algn="ctr"/>
            <a:r>
              <a:rPr sz="1100">
                <a:solidFill>
                  <a:srgbClr val="FFFFFF"/>
                </a:solidFill>
                <a:latin typeface="Noto Sans CJK JP"/>
              </a:rPr>
              <a:t>省略可 — defaults でも動く</a:t>
            </a:r>
          </a:p>
        </p:txBody>
      </p:sp>
      <p:sp>
        <p:nvSpPr>
          <p:cNvPr id="8" name="Rounded Rectangle 7"/>
          <p:cNvSpPr/>
          <p:nvPr/>
        </p:nvSpPr>
        <p:spPr>
          <a:xfrm>
            <a:off x="7406640" y="3108960"/>
            <a:ext cx="4389120" cy="82296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run</a:t>
            </a:r>
          </a:p>
          <a:p>
            <a:pPr algn="ctr"/>
            <a:r>
              <a:rPr sz="1100">
                <a:solidFill>
                  <a:srgbClr val="FFFFFF"/>
                </a:solidFill>
                <a:latin typeface="Noto Sans CJK JP"/>
              </a:rPr>
              <a:t>tr.run(0) または tr.run(N)</a:t>
            </a:r>
          </a:p>
        </p:txBody>
      </p:sp>
      <p:sp>
        <p:nvSpPr>
          <p:cNvPr id="9" name="Rounded Rectangle 8"/>
          <p:cNvSpPr/>
          <p:nvPr/>
        </p:nvSpPr>
        <p:spPr>
          <a:xfrm>
            <a:off x="7406640" y="4069080"/>
            <a:ext cx="4389120" cy="82296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get_state</a:t>
            </a:r>
          </a:p>
          <a:p>
            <a:pPr algn="ctr"/>
            <a:r>
              <a:rPr sz="1100">
                <a:solidFill>
                  <a:srgbClr val="FFFFFF"/>
                </a:solidFill>
                <a:latin typeface="Noto Sans CJK JP"/>
              </a:rPr>
              <a:t>state = tr.get_state()</a:t>
            </a:r>
          </a:p>
        </p:txBody>
      </p:sp>
      <p:sp>
        <p:nvSpPr>
          <p:cNvPr id="10" name="Rounded Rectangle 9"/>
          <p:cNvSpPr/>
          <p:nvPr/>
        </p:nvSpPr>
        <p:spPr>
          <a:xfrm>
            <a:off x="7406640" y="5029200"/>
            <a:ext cx="4389120" cy="82296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finalize</a:t>
            </a:r>
          </a:p>
          <a:p>
            <a:pPr algn="ctr"/>
            <a:r>
              <a:rPr sz="1100">
                <a:solidFill>
                  <a:srgbClr val="FFFFFF"/>
                </a:solidFill>
                <a:latin typeface="Noto Sans CJK JP"/>
              </a:rPr>
              <a:t>with を抜けて自動 close</a:t>
            </a:r>
          </a:p>
        </p:txBody>
      </p:sp>
      <p:sp>
        <p:nvSpPr>
          <p:cNvPr id="11" name="TextBox 10"/>
          <p:cNvSpPr txBox="1"/>
          <p:nvPr/>
        </p:nvSpPr>
        <p:spPr>
          <a:xfrm>
            <a:off x="365760" y="4572000"/>
            <a:ext cx="6766560" cy="1828800"/>
          </a:xfrm>
          <a:prstGeom prst="rect">
            <a:avLst/>
          </a:prstGeom>
          <a:noFill/>
        </p:spPr>
        <p:txBody>
          <a:bodyPr wrap="square" lIns="36000" rIns="36000" tIns="18000" bIns="18000" anchor="t">
            <a:spAutoFit/>
          </a:bodyPr>
          <a:lstStyle/>
          <a:p>
            <a:pPr algn="l"/>
            <a:r>
              <a:rPr sz="1300" b="0">
                <a:solidFill>
                  <a:srgbClr val="101010"/>
                </a:solidFill>
                <a:latin typeface="Noto Sans CJK JP"/>
              </a:rPr>
              <a:t>ポイント:</a:t>
            </a:r>
          </a:p>
          <a:p>
            <a:pPr algn="l"/>
            <a:r>
              <a:rPr sz="1300" b="0">
                <a:solidFill>
                  <a:srgbClr val="101010"/>
                </a:solidFill>
                <a:latin typeface="Noto Sans CJK JP"/>
              </a:rPr>
              <a:t>・ with 文で tr_init / tr_finalize を自動管理。</a:t>
            </a:r>
          </a:p>
          <a:p>
            <a:pPr algn="l"/>
            <a:r>
              <a:rPr sz="1300" b="0">
                <a:solidFill>
                  <a:srgbClr val="101010"/>
                </a:solidFill>
                <a:latin typeface="Noto Sans CJK JP"/>
              </a:rPr>
              <a:t>・ run(0) は 0 ステップ実行 = tr_prep のみ起動 (有効なスモーク)。</a:t>
            </a:r>
          </a:p>
          <a:p>
            <a:pPr algn="l"/>
            <a:r>
              <a:rPr sz="1300" b="0">
                <a:solidFill>
                  <a:srgbClr val="101010"/>
                </a:solidFill>
                <a:latin typeface="Noto Sans CJK JP"/>
              </a:rPr>
              <a:t>・ Trlib() は process 内シングルトン (libtrapi.so の COMMON が一つ)。</a:t>
            </a:r>
          </a:p>
          <a:p>
            <a:pPr algn="l"/>
            <a:r>
              <a:rPr sz="1300" b="0">
                <a:solidFill>
                  <a:srgbClr val="101010"/>
                </a:solidFill>
                <a:latin typeface="Noto Sans CJK JP"/>
              </a:rPr>
              <a:t>・ ierr は raise_for_ierr() で TrlibError 派生例外に変換。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パラメータ設定の 3 種類</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set_param / set_param_str / set_params</a:t>
            </a:r>
          </a:p>
        </p:txBody>
      </p:sp>
      <p:sp>
        <p:nvSpPr>
          <p:cNvPr id="5" name="Rectangle 4"/>
          <p:cNvSpPr/>
          <p:nvPr/>
        </p:nvSpPr>
        <p:spPr>
          <a:xfrm>
            <a:off x="365760" y="1188720"/>
            <a:ext cx="7680960" cy="49377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400" b="1">
                <a:solidFill>
                  <a:srgbClr val="555555"/>
                </a:solidFill>
                <a:latin typeface="Noto Sans CJK JP"/>
              </a:rPr>
              <a:t>param.py</a:t>
            </a:r>
          </a:p>
          <a:p>
            <a:r>
              <a:rPr sz="1300">
                <a:solidFill>
                  <a:srgbClr val="101010"/>
                </a:solidFill>
                <a:latin typeface="DejaVu Sans Mono"/>
              </a:rPr>
              <a:t>with Trlib() as tr:</a:t>
            </a:r>
          </a:p>
          <a:p>
            <a:r>
              <a:rPr sz="1300">
                <a:solidFill>
                  <a:srgbClr val="101010"/>
                </a:solidFill>
                <a:latin typeface="DejaVu Sans Mono"/>
              </a:rPr>
              <a:t>    # 1. スカラーを 1 個ずつ</a:t>
            </a:r>
          </a:p>
          <a:p>
            <a:r>
              <a:rPr sz="1300">
                <a:solidFill>
                  <a:srgbClr val="101010"/>
                </a:solidFill>
                <a:latin typeface="DejaVu Sans Mono"/>
              </a:rPr>
              <a:t>    tr.set_param('RR', 6.2)        # 主半径 [m]</a:t>
            </a:r>
          </a:p>
          <a:p>
            <a:r>
              <a:rPr sz="1300">
                <a:solidFill>
                  <a:srgbClr val="101010"/>
                </a:solidFill>
                <a:latin typeface="DejaVu Sans Mono"/>
              </a:rPr>
              <a:t>    tr.set_param('BB', 5.3)        # トロイダル磁場 [T]</a:t>
            </a:r>
          </a:p>
          <a:p>
            <a:r>
              <a:rPr sz="1300">
                <a:solidFill>
                  <a:srgbClr val="101010"/>
                </a:solidFill>
                <a:latin typeface="DejaVu Sans Mono"/>
              </a:rPr>
              <a:t> </a:t>
            </a:r>
          </a:p>
          <a:p>
            <a:r>
              <a:rPr sz="1300">
                <a:solidFill>
                  <a:srgbClr val="101010"/>
                </a:solidFill>
                <a:latin typeface="DejaVu Sans Mono"/>
              </a:rPr>
              <a:t>    # 2. 配列要素 (1-origin、Fortran 慣習)</a:t>
            </a:r>
          </a:p>
          <a:p>
            <a:r>
              <a:rPr sz="1300">
                <a:solidFill>
                  <a:srgbClr val="101010"/>
                </a:solidFill>
                <a:latin typeface="DejaVu Sans Mono"/>
              </a:rPr>
              <a:t>    tr.set_param('PA[2]', 1.0)     # 2 種目の質量数</a:t>
            </a:r>
          </a:p>
          <a:p>
            <a:r>
              <a:rPr sz="1300">
                <a:solidFill>
                  <a:srgbClr val="101010"/>
                </a:solidFill>
                <a:latin typeface="DejaVu Sans Mono"/>
              </a:rPr>
              <a:t>    tr.set_param('PN[1]', 0.7)     # 1 種目の密度</a:t>
            </a:r>
          </a:p>
          <a:p>
            <a:r>
              <a:rPr sz="1300">
                <a:solidFill>
                  <a:srgbClr val="101010"/>
                </a:solidFill>
                <a:latin typeface="DejaVu Sans Mono"/>
              </a:rPr>
              <a:t>    tr.set_param('PN[2]', 0.3)</a:t>
            </a:r>
          </a:p>
          <a:p>
            <a:r>
              <a:rPr sz="1300">
                <a:solidFill>
                  <a:srgbClr val="101010"/>
                </a:solidFill>
                <a:latin typeface="DejaVu Sans Mono"/>
              </a:rPr>
              <a:t> </a:t>
            </a:r>
          </a:p>
          <a:p>
            <a:r>
              <a:rPr sz="1300">
                <a:solidFill>
                  <a:srgbClr val="101010"/>
                </a:solidFill>
                <a:latin typeface="DejaVu Sans Mono"/>
              </a:rPr>
              <a:t>    # 3. 文字列パラメータ (KNAMEQ など)</a:t>
            </a:r>
          </a:p>
          <a:p>
            <a:r>
              <a:rPr sz="1300">
                <a:solidFill>
                  <a:srgbClr val="101010"/>
                </a:solidFill>
                <a:latin typeface="DejaVu Sans Mono"/>
              </a:rPr>
              <a:t>    tr.set_param_str('KNAMEQ', 'eqdata.TST-2')</a:t>
            </a:r>
          </a:p>
          <a:p>
            <a:r>
              <a:rPr sz="1300">
                <a:solidFill>
                  <a:srgbClr val="101010"/>
                </a:solidFill>
                <a:latin typeface="DejaVu Sans Mono"/>
              </a:rPr>
              <a:t> </a:t>
            </a:r>
          </a:p>
          <a:p>
            <a:r>
              <a:rPr sz="1300">
                <a:solidFill>
                  <a:srgbClr val="101010"/>
                </a:solidFill>
                <a:latin typeface="DejaVu Sans Mono"/>
              </a:rPr>
              <a:t>    # 4. キーワードでまとめてスカラー</a:t>
            </a:r>
          </a:p>
          <a:p>
            <a:r>
              <a:rPr sz="1300">
                <a:solidFill>
                  <a:srgbClr val="101010"/>
                </a:solidFill>
                <a:latin typeface="DejaVu Sans Mono"/>
              </a:rPr>
              <a:t>    tr.set_params(RR=6.2, BB=5.3, NSMAX=2, DT=1.0e-5)</a:t>
            </a:r>
          </a:p>
          <a:p>
            <a:r>
              <a:rPr sz="1300">
                <a:solidFill>
                  <a:srgbClr val="101010"/>
                </a:solidFill>
                <a:latin typeface="DejaVu Sans Mono"/>
              </a:rPr>
              <a:t> </a:t>
            </a:r>
          </a:p>
        </p:txBody>
      </p:sp>
      <p:sp>
        <p:nvSpPr>
          <p:cNvPr id="6" name="TextBox 5"/>
          <p:cNvSpPr txBox="1"/>
          <p:nvPr/>
        </p:nvSpPr>
        <p:spPr>
          <a:xfrm>
            <a:off x="8229600" y="1188720"/>
            <a:ext cx="3566160" cy="493776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set_param: 数値を 1 個。</a:t>
            </a:r>
          </a:p>
          <a:p>
            <a:pPr algn="l">
              <a:spcAft>
                <a:spcPts val="600"/>
              </a:spcAft>
            </a:pPr>
            <a:r>
              <a:rPr sz="1300">
                <a:solidFill>
                  <a:srgbClr val="101010"/>
                </a:solidFill>
                <a:latin typeface="Noto Sans CJK JP"/>
              </a:rPr>
              <a:t>・ 添字 [i] は 1-origin。</a:t>
            </a:r>
          </a:p>
          <a:p>
            <a:pPr algn="l">
              <a:spcAft>
                <a:spcPts val="600"/>
              </a:spcAft>
            </a:pPr>
            <a:r>
              <a:rPr sz="1300">
                <a:solidFill>
                  <a:srgbClr val="101010"/>
                </a:solidFill>
                <a:latin typeface="Noto Sans CJK JP"/>
              </a:rPr>
              <a:t>・ 2D 配列は [i,j] (registry が解析)。</a:t>
            </a:r>
          </a:p>
          <a:p>
            <a:pPr algn="l">
              <a:spcAft>
                <a:spcPts val="600"/>
              </a:spcAft>
            </a:pPr>
            <a:r>
              <a:rPr sz="1300">
                <a:solidFill>
                  <a:srgbClr val="101010"/>
                </a:solidFill>
                <a:latin typeface="Noto Sans CJK JP"/>
              </a:rPr>
              <a:t>・ set_param_str: 文字列専用。</a:t>
            </a:r>
          </a:p>
          <a:p>
            <a:pPr algn="l">
              <a:spcAft>
                <a:spcPts val="600"/>
              </a:spcAft>
            </a:pPr>
            <a:r>
              <a:rPr sz="1300">
                <a:solidFill>
                  <a:srgbClr val="101010"/>
                </a:solidFill>
                <a:latin typeface="Noto Sans CJK JP"/>
              </a:rPr>
              <a:t>・ set_params: kwargs (スカラーのみ)。</a:t>
            </a:r>
          </a:p>
          <a:p>
            <a:pPr algn="l">
              <a:spcAft>
                <a:spcPts val="600"/>
              </a:spcAft>
            </a:pPr>
            <a:r>
              <a:rPr sz="1300">
                <a:solidFill>
                  <a:srgbClr val="101010"/>
                </a:solidFill>
                <a:latin typeface="Noto Sans CJK JP"/>
              </a:rPr>
              <a:t>・ set_params に [ ] は書けないので、配列要素は set_param で。</a:t>
            </a:r>
          </a:p>
          <a:p>
            <a:pPr algn="l">
              <a:spcAft>
                <a:spcPts val="600"/>
              </a:spcAft>
            </a:pPr>
            <a:r>
              <a:rPr sz="1300">
                <a:solidFill>
                  <a:srgbClr val="101010"/>
                </a:solidFill>
                <a:latin typeface="Noto Sans CJK JP"/>
              </a:rPr>
              <a:t>・ ierr=1 で TrlibParamError。</a:t>
            </a:r>
          </a:p>
        </p:txBody>
      </p:sp>
      <p:sp>
        <p:nvSpPr>
          <p:cNvPr id="7" name="TextBox 6"/>
          <p:cNvSpPr txBox="1"/>
          <p:nvPr/>
        </p:nvSpPr>
        <p:spPr>
          <a:xfrm>
            <a:off x="365760" y="6263640"/>
            <a:ext cx="11430000" cy="457200"/>
          </a:xfrm>
          <a:prstGeom prst="rect">
            <a:avLst/>
          </a:prstGeom>
          <a:noFill/>
        </p:spPr>
        <p:txBody>
          <a:bodyPr wrap="square" lIns="36000" rIns="36000" tIns="18000" bIns="18000" anchor="t">
            <a:spAutoFit/>
          </a:bodyPr>
          <a:lstStyle/>
          <a:p>
            <a:pPr algn="l"/>
            <a:r>
              <a:rPr sz="1100" b="0">
                <a:solidFill>
                  <a:srgbClr val="555555"/>
                </a:solidFill>
                <a:latin typeface="Noto Sans CJK JP"/>
              </a:rPr>
              <a:t>解析は tr/tr_param_registry.f90 で実装。利用可能な名前は同ファイルの SELECT CASE を参照。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実行とステップ制御: tr.run(ntmax)</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累積セマンティクス — run(5)+run(5) は run(10) と等価</a:t>
            </a:r>
          </a:p>
        </p:txBody>
      </p:sp>
      <p:sp>
        <p:nvSpPr>
          <p:cNvPr id="5" name="Rectangle 4"/>
          <p:cNvSpPr/>
          <p:nvPr/>
        </p:nvSpPr>
        <p:spPr>
          <a:xfrm>
            <a:off x="365760" y="1188720"/>
            <a:ext cx="6949440" cy="31089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400" b="1">
                <a:solidFill>
                  <a:srgbClr val="555555"/>
                </a:solidFill>
                <a:latin typeface="Noto Sans CJK JP"/>
              </a:rPr>
              <a:t>incremental.py</a:t>
            </a:r>
          </a:p>
          <a:p>
            <a:r>
              <a:rPr sz="1300">
                <a:solidFill>
                  <a:srgbClr val="101010"/>
                </a:solidFill>
                <a:latin typeface="DejaVu Sans Mono"/>
              </a:rPr>
              <a:t>with Trlib() as tr:</a:t>
            </a:r>
          </a:p>
          <a:p>
            <a:r>
              <a:rPr sz="1300">
                <a:solidFill>
                  <a:srgbClr val="101010"/>
                </a:solidFill>
                <a:latin typeface="DejaVu Sans Mono"/>
              </a:rPr>
              <a:t>    tr_tst2_params.apply(tr)</a:t>
            </a:r>
          </a:p>
          <a:p>
            <a:r>
              <a:rPr sz="1300">
                <a:solidFill>
                  <a:srgbClr val="101010"/>
                </a:solidFill>
                <a:latin typeface="DejaVu Sans Mono"/>
              </a:rPr>
              <a:t> </a:t>
            </a:r>
          </a:p>
          <a:p>
            <a:r>
              <a:rPr sz="1300">
                <a:solidFill>
                  <a:srgbClr val="101010"/>
                </a:solidFill>
                <a:latin typeface="DejaVu Sans Mono"/>
              </a:rPr>
              <a:t>    tr.run(0)        # tr_prep のみ (有効な no-op)</a:t>
            </a:r>
          </a:p>
          <a:p>
            <a:r>
              <a:rPr sz="1300">
                <a:solidFill>
                  <a:srgbClr val="101010"/>
                </a:solidFill>
                <a:latin typeface="DejaVu Sans Mono"/>
              </a:rPr>
              <a:t>    tr.run(5)        # 5 ステップ進行 → NT=5</a:t>
            </a:r>
          </a:p>
          <a:p>
            <a:r>
              <a:rPr sz="1300">
                <a:solidFill>
                  <a:srgbClr val="101010"/>
                </a:solidFill>
                <a:latin typeface="DejaVu Sans Mono"/>
              </a:rPr>
              <a:t>    tr.run(5)        # さらに 5 ステップ → NT=10</a:t>
            </a:r>
          </a:p>
          <a:p>
            <a:r>
              <a:rPr sz="1300">
                <a:solidFill>
                  <a:srgbClr val="101010"/>
                </a:solidFill>
                <a:latin typeface="DejaVu Sans Mono"/>
              </a:rPr>
              <a:t> </a:t>
            </a:r>
          </a:p>
          <a:p>
            <a:r>
              <a:rPr sz="1300">
                <a:solidFill>
                  <a:srgbClr val="101010"/>
                </a:solidFill>
                <a:latin typeface="DejaVu Sans Mono"/>
              </a:rPr>
              <a:t>    state = tr.get_state()</a:t>
            </a:r>
          </a:p>
          <a:p>
            <a:r>
              <a:rPr sz="1300">
                <a:solidFill>
                  <a:srgbClr val="101010"/>
                </a:solidFill>
                <a:latin typeface="DejaVu Sans Mono"/>
              </a:rPr>
              <a:t>    print(state.nt)  # 10</a:t>
            </a:r>
          </a:p>
          <a:p>
            <a:r>
              <a:rPr sz="1300">
                <a:solidFill>
                  <a:srgbClr val="101010"/>
                </a:solidFill>
                <a:latin typeface="DejaVu Sans Mono"/>
              </a:rPr>
              <a:t> </a:t>
            </a:r>
          </a:p>
        </p:txBody>
      </p:sp>
      <p:sp>
        <p:nvSpPr>
          <p:cNvPr id="6" name="TextBox 5"/>
          <p:cNvSpPr txBox="1"/>
          <p:nvPr/>
        </p:nvSpPr>
        <p:spPr>
          <a:xfrm>
            <a:off x="7498079" y="1188720"/>
            <a:ext cx="4389120" cy="310896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run(N) は内部で tr_run(N) を呼ぶ。</a:t>
            </a:r>
          </a:p>
          <a:p>
            <a:pPr algn="l">
              <a:spcAft>
                <a:spcPts val="600"/>
              </a:spcAft>
            </a:pPr>
            <a:r>
              <a:rPr sz="1300">
                <a:solidFill>
                  <a:srgbClr val="101010"/>
                </a:solidFill>
                <a:latin typeface="Noto Sans CJK JP"/>
              </a:rPr>
              <a:t>・ N=0 は tr_prep のみ起動 (合法)。</a:t>
            </a:r>
          </a:p>
          <a:p>
            <a:pPr algn="l">
              <a:spcAft>
                <a:spcPts val="600"/>
              </a:spcAft>
            </a:pPr>
            <a:r>
              <a:rPr sz="1300">
                <a:solidFill>
                  <a:srgbClr val="101010"/>
                </a:solidFill>
                <a:latin typeface="Noto Sans CJK JP"/>
              </a:rPr>
              <a:t>・ N&gt;0 は累積で NT が増加。</a:t>
            </a:r>
          </a:p>
          <a:p>
            <a:pPr algn="l">
              <a:spcAft>
                <a:spcPts val="600"/>
              </a:spcAft>
            </a:pPr>
            <a:r>
              <a:rPr sz="1300">
                <a:solidFill>
                  <a:srgbClr val="101010"/>
                </a:solidFill>
                <a:latin typeface="Noto Sans CJK JP"/>
              </a:rPr>
              <a:t>・ 再度 run() を呼んでも tr_prep は再実行されない。</a:t>
            </a:r>
          </a:p>
          <a:p>
            <a:pPr algn="l">
              <a:spcAft>
                <a:spcPts val="600"/>
              </a:spcAft>
            </a:pPr>
            <a:r>
              <a:rPr sz="1300">
                <a:solidFill>
                  <a:srgbClr val="101010"/>
                </a:solidFill>
                <a:latin typeface="Noto Sans CJK JP"/>
              </a:rPr>
              <a:t>・ ierr=3 で TrlibRunError (収束失敗等)。</a:t>
            </a:r>
          </a:p>
        </p:txBody>
      </p:sp>
      <p:sp>
        <p:nvSpPr>
          <p:cNvPr id="7" name="Rounded Rectangle 6"/>
          <p:cNvSpPr/>
          <p:nvPr/>
        </p:nvSpPr>
        <p:spPr>
          <a:xfrm>
            <a:off x="365760" y="4572000"/>
            <a:ext cx="11430000" cy="18288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検証: run(5)+run(5) vs run(10) 同一性 (tst2 で実測)</a:t>
            </a:r>
          </a:p>
          <a:p>
            <a:pPr algn="ctr"/>
            <a:r>
              <a:rPr sz="1100">
                <a:solidFill>
                  <a:srgbClr val="FFFFFF"/>
                </a:solidFill>
                <a:latin typeface="Noto Sans CJK JP"/>
              </a:rPr>
              <a:t>  run(10):                ZEFF0 = 1.3292981098481862</a:t>
            </a:r>
          </a:p>
          <a:p>
            <a:pPr algn="ctr"/>
            <a:r>
              <a:rPr sz="1100">
                <a:solidFill>
                  <a:srgbClr val="FFFFFF"/>
                </a:solidFill>
                <a:latin typeface="Noto Sans CJK JP"/>
              </a:rPr>
              <a:t>  run(5)+run(5):          ZEFF0 = 1.3292981098485062  (digit 13 で差)</a:t>
            </a:r>
          </a:p>
          <a:p>
            <a:pPr algn="ctr"/>
            <a:r>
              <a:rPr sz="1100">
                <a:solidFill>
                  <a:srgbClr val="FFFFFF"/>
                </a:solidFill>
                <a:latin typeface="Noto Sans CJK JP"/>
              </a:rPr>
              <a:t>  run(3)+run(3)+run(4):   ZEFF0 = 1.3292981098507612  (digit 11 で差)</a:t>
            </a:r>
          </a:p>
          <a:p>
            <a:pPr algn="ctr"/>
            <a:r>
              <a:rPr sz="1100">
                <a:solidFill>
                  <a:srgbClr val="FFFFFF"/>
                </a:solidFill>
                <a:latin typeface="Noto Sans CJK JP"/>
              </a:rPr>
              <a:t>→ 12 桁一致するが bit-identical ではない (Layer 1 1e-10 tol 内)。</a:t>
            </a:r>
          </a:p>
          <a:p>
            <a:pPr algn="ctr"/>
            <a:r>
              <a:rPr sz="1100">
                <a:solidFill>
                  <a:srgbClr val="FFFFFF"/>
                </a:solidFill>
                <a:latin typeface="Noto Sans CJK JP"/>
              </a:rPr>
              <a:t>  step 分割の仕方で末尾桁の noise が変わる仕様、API ユーザは留意。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状態取得: TrState と to_dict()</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scalars 13 種 + profile (NRMAX 点) を Python リストで</a:t>
            </a:r>
          </a:p>
        </p:txBody>
      </p:sp>
      <p:sp>
        <p:nvSpPr>
          <p:cNvPr id="5" name="Rectangle 4"/>
          <p:cNvSpPr/>
          <p:nvPr/>
        </p:nvSpPr>
        <p:spPr>
          <a:xfrm>
            <a:off x="365760" y="1188720"/>
            <a:ext cx="6949440" cy="438912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state.py</a:t>
            </a:r>
          </a:p>
          <a:p>
            <a:r>
              <a:rPr sz="1200">
                <a:solidFill>
                  <a:srgbClr val="101010"/>
                </a:solidFill>
                <a:latin typeface="DejaVu Sans Mono"/>
              </a:rPr>
              <a:t>state = tr.get_state()</a:t>
            </a:r>
          </a:p>
          <a:p>
            <a:r>
              <a:rPr sz="1200">
                <a:solidFill>
                  <a:srgbClr val="101010"/>
                </a:solidFill>
                <a:latin typeface="DejaVu Sans Mono"/>
              </a:rPr>
              <a:t> </a:t>
            </a:r>
          </a:p>
          <a:p>
            <a:r>
              <a:rPr sz="1200">
                <a:solidFill>
                  <a:srgbClr val="101010"/>
                </a:solidFill>
                <a:latin typeface="DejaVu Sans Mono"/>
              </a:rPr>
              <a:t># 属性アクセス (dataclass)</a:t>
            </a:r>
          </a:p>
          <a:p>
            <a:r>
              <a:rPr sz="1200">
                <a:solidFill>
                  <a:srgbClr val="101010"/>
                </a:solidFill>
                <a:latin typeface="DejaVu Sans Mono"/>
              </a:rPr>
              <a:t>state.nt        # int  時間ステップカウンタ</a:t>
            </a:r>
          </a:p>
          <a:p>
            <a:r>
              <a:rPr sz="1200">
                <a:solidFill>
                  <a:srgbClr val="101010"/>
                </a:solidFill>
                <a:latin typeface="DejaVu Sans Mono"/>
              </a:rPr>
              <a:t>state.nrmax     # int  実効ラジアル点数</a:t>
            </a:r>
          </a:p>
          <a:p>
            <a:r>
              <a:rPr sz="1200">
                <a:solidFill>
                  <a:srgbClr val="101010"/>
                </a:solidFill>
                <a:latin typeface="DejaVu Sans Mono"/>
              </a:rPr>
              <a:t>state.nsmax     # int  実効種数</a:t>
            </a:r>
          </a:p>
          <a:p>
            <a:r>
              <a:rPr sz="1200">
                <a:solidFill>
                  <a:srgbClr val="101010"/>
                </a:solidFill>
                <a:latin typeface="DejaVu Sans Mono"/>
              </a:rPr>
              <a:t>state.scalars   # dict T / WPT / AJT / Q0 / BETA0 / ... 13 個</a:t>
            </a:r>
          </a:p>
          <a:p>
            <a:r>
              <a:rPr sz="1200">
                <a:solidFill>
                  <a:srgbClr val="101010"/>
                </a:solidFill>
                <a:latin typeface="DejaVu Sans Mono"/>
              </a:rPr>
              <a:t>state.RN        # [nrmax][nsmax]  密度プロファイル</a:t>
            </a:r>
          </a:p>
          <a:p>
            <a:r>
              <a:rPr sz="1200">
                <a:solidFill>
                  <a:srgbClr val="101010"/>
                </a:solidFill>
                <a:latin typeface="DejaVu Sans Mono"/>
              </a:rPr>
              <a:t>state.RT        # [nrmax][nsmax]  温度プロファイル</a:t>
            </a:r>
          </a:p>
          <a:p>
            <a:r>
              <a:rPr sz="1200">
                <a:solidFill>
                  <a:srgbClr val="101010"/>
                </a:solidFill>
                <a:latin typeface="DejaVu Sans Mono"/>
              </a:rPr>
              <a:t>state.AJ        # [nrmax]         電流密度プロファイル</a:t>
            </a:r>
          </a:p>
          <a:p>
            <a:r>
              <a:rPr sz="1200">
                <a:solidFill>
                  <a:srgbClr val="101010"/>
                </a:solidFill>
                <a:latin typeface="DejaVu Sans Mono"/>
              </a:rPr>
              <a:t>state.QP        # [nrmax]         安全係数プロファイル</a:t>
            </a:r>
          </a:p>
          <a:p>
            <a:r>
              <a:rPr sz="1200">
                <a:solidFill>
                  <a:srgbClr val="101010"/>
                </a:solidFill>
                <a:latin typeface="DejaVu Sans Mono"/>
              </a:rPr>
              <a:t> </a:t>
            </a:r>
          </a:p>
          <a:p>
            <a:r>
              <a:rPr sz="1200">
                <a:solidFill>
                  <a:srgbClr val="101010"/>
                </a:solidFill>
                <a:latin typeface="DejaVu Sans Mono"/>
              </a:rPr>
              <a:t>import json</a:t>
            </a:r>
          </a:p>
          <a:p>
            <a:r>
              <a:rPr sz="1200">
                <a:solidFill>
                  <a:srgbClr val="101010"/>
                </a:solidFill>
                <a:latin typeface="DejaVu Sans Mono"/>
              </a:rPr>
              <a:t>json.dump(state.to_dict(), open('out.json', 'w'))</a:t>
            </a:r>
          </a:p>
          <a:p>
            <a:r>
              <a:rPr sz="1200">
                <a:solidFill>
                  <a:srgbClr val="101010"/>
                </a:solidFill>
                <a:latin typeface="DejaVu Sans Mono"/>
              </a:rPr>
              <a:t> </a:t>
            </a:r>
          </a:p>
        </p:txBody>
      </p:sp>
      <p:sp>
        <p:nvSpPr>
          <p:cNvPr id="6" name="Rectangle 5"/>
          <p:cNvSpPr/>
          <p:nvPr/>
        </p:nvSpPr>
        <p:spPr>
          <a:xfrm>
            <a:off x="7498079" y="1188720"/>
            <a:ext cx="4389120" cy="438912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200" b="1">
                <a:solidFill>
                  <a:srgbClr val="555555"/>
                </a:solidFill>
                <a:latin typeface="Noto Sans CJK JP"/>
              </a:rPr>
              <a:t>state.to_dict() 形状</a:t>
            </a:r>
          </a:p>
          <a:p>
            <a:r>
              <a:rPr sz="1100">
                <a:solidFill>
                  <a:srgbClr val="101010"/>
                </a:solidFill>
                <a:latin typeface="DejaVu Sans Mono"/>
              </a:rPr>
              <a:t>{</a:t>
            </a:r>
          </a:p>
          <a:p>
            <a:r>
              <a:rPr sz="1100">
                <a:solidFill>
                  <a:srgbClr val="101010"/>
                </a:solidFill>
                <a:latin typeface="DejaVu Sans Mono"/>
              </a:rPr>
              <a:t>  "NT": 10,</a:t>
            </a:r>
          </a:p>
          <a:p>
            <a:r>
              <a:rPr sz="1100">
                <a:solidFill>
                  <a:srgbClr val="101010"/>
                </a:solidFill>
                <a:latin typeface="DejaVu Sans Mono"/>
              </a:rPr>
              <a:t>  "NRMAX": 50,</a:t>
            </a:r>
          </a:p>
          <a:p>
            <a:r>
              <a:rPr sz="1100">
                <a:solidFill>
                  <a:srgbClr val="101010"/>
                </a:solidFill>
                <a:latin typeface="DejaVu Sans Mono"/>
              </a:rPr>
              <a:t>  "NSMAX": 2,</a:t>
            </a:r>
          </a:p>
          <a:p>
            <a:r>
              <a:rPr sz="1100">
                <a:solidFill>
                  <a:srgbClr val="101010"/>
                </a:solidFill>
                <a:latin typeface="DejaVu Sans Mono"/>
              </a:rPr>
              <a:t>  "scalars": {</a:t>
            </a:r>
          </a:p>
          <a:p>
            <a:r>
              <a:rPr sz="1100">
                <a:solidFill>
                  <a:srgbClr val="101010"/>
                </a:solidFill>
                <a:latin typeface="DejaVu Sans Mono"/>
              </a:rPr>
              <a:t>    "T": 1.0e-4, "WPT": 1.23e-3,</a:t>
            </a:r>
          </a:p>
          <a:p>
            <a:r>
              <a:rPr sz="1100">
                <a:solidFill>
                  <a:srgbClr val="101010"/>
                </a:solidFill>
                <a:latin typeface="DejaVu Sans Mono"/>
              </a:rPr>
              <a:t>    "AJT": 0.015, "Q0": 1.05,</a:t>
            </a:r>
          </a:p>
          <a:p>
            <a:r>
              <a:rPr sz="1100">
                <a:solidFill>
                  <a:srgbClr val="101010"/>
                </a:solidFill>
                <a:latin typeface="DejaVu Sans Mono"/>
              </a:rPr>
              <a:t>    "BETA0": ..., "ZEFF0": ...</a:t>
            </a:r>
          </a:p>
          <a:p>
            <a:r>
              <a:rPr sz="1100">
                <a:solidFill>
                  <a:srgbClr val="101010"/>
                </a:solidFill>
                <a:latin typeface="DejaVu Sans Mono"/>
              </a:rPr>
              <a:t>  },</a:t>
            </a:r>
          </a:p>
          <a:p>
            <a:r>
              <a:rPr sz="1100">
                <a:solidFill>
                  <a:srgbClr val="101010"/>
                </a:solidFill>
                <a:latin typeface="DejaVu Sans Mono"/>
              </a:rPr>
              <a:t>  "profile": [</a:t>
            </a:r>
          </a:p>
          <a:p>
            <a:r>
              <a:rPr sz="1100">
                <a:solidFill>
                  <a:srgbClr val="101010"/>
                </a:solidFill>
                <a:latin typeface="DejaVu Sans Mono"/>
              </a:rPr>
              <a:t>    {"NR": 1, "RN": [...], "RT": [...],</a:t>
            </a:r>
          </a:p>
          <a:p>
            <a:r>
              <a:rPr sz="1100">
                <a:solidFill>
                  <a:srgbClr val="101010"/>
                </a:solidFill>
                <a:latin typeface="DejaVu Sans Mono"/>
              </a:rPr>
              <a:t>     "AJ": ..., "QP": ...},</a:t>
            </a:r>
          </a:p>
          <a:p>
            <a:r>
              <a:rPr sz="1100">
                <a:solidFill>
                  <a:srgbClr val="101010"/>
                </a:solidFill>
                <a:latin typeface="DejaVu Sans Mono"/>
              </a:rPr>
              <a:t>    ... NRMAX rows ...</a:t>
            </a:r>
          </a:p>
          <a:p>
            <a:r>
              <a:rPr sz="1100">
                <a:solidFill>
                  <a:srgbClr val="101010"/>
                </a:solidFill>
                <a:latin typeface="DejaVu Sans Mono"/>
              </a:rPr>
              <a:t>  ]</a:t>
            </a:r>
          </a:p>
          <a:p>
            <a:r>
              <a:rPr sz="1100">
                <a:solidFill>
                  <a:srgbClr val="101010"/>
                </a:solidFill>
                <a:latin typeface="DejaVu Sans Mono"/>
              </a:rPr>
              <a:t>}</a:t>
            </a:r>
          </a:p>
          <a:p>
            <a:r>
              <a:rPr sz="1100">
                <a:solidFill>
                  <a:srgbClr val="101010"/>
                </a:solidFill>
                <a:latin typeface="DejaVu Sans Mono"/>
              </a:rPr>
              <a:t> </a:t>
            </a:r>
          </a:p>
        </p:txBody>
      </p:sp>
      <p:sp>
        <p:nvSpPr>
          <p:cNvPr id="7" name="TextBox 6"/>
          <p:cNvSpPr txBox="1"/>
          <p:nvPr/>
        </p:nvSpPr>
        <p:spPr>
          <a:xfrm>
            <a:off x="365760" y="5760720"/>
            <a:ext cx="11430000" cy="914400"/>
          </a:xfrm>
          <a:prstGeom prst="rect">
            <a:avLst/>
          </a:prstGeom>
          <a:noFill/>
        </p:spPr>
        <p:txBody>
          <a:bodyPr wrap="square" lIns="36000" rIns="36000" tIns="18000" bIns="18000" anchor="t">
            <a:spAutoFit/>
          </a:bodyPr>
          <a:lstStyle/>
          <a:p>
            <a:pPr algn="l"/>
            <a:r>
              <a:rPr sz="1200" b="0">
                <a:solidFill>
                  <a:srgbClr val="555555"/>
                </a:solidFill>
                <a:latin typeface="Noto Sans CJK JP"/>
              </a:rPr>
              <a:t>to_dict() の形状は Phase 0 baseline (extract_tr_metrics.py) と一致するため、tools/compare_metrics.py でそのまま 1e-10 比較できます (Layer 1 等価性テストはこの仕組み)。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ライフサイクル: with / close / 再利用</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context manager は冪等、close() は何度呼んでも安全</a:t>
            </a:r>
          </a:p>
        </p:txBody>
      </p:sp>
      <p:sp>
        <p:nvSpPr>
          <p:cNvPr id="5" name="Rectangle 4"/>
          <p:cNvSpPr/>
          <p:nvPr/>
        </p:nvSpPr>
        <p:spPr>
          <a:xfrm>
            <a:off x="365760" y="1188720"/>
            <a:ext cx="7315200" cy="51206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lifecycle.py</a:t>
            </a:r>
          </a:p>
          <a:p>
            <a:r>
              <a:rPr sz="1200">
                <a:solidFill>
                  <a:srgbClr val="101010"/>
                </a:solidFill>
                <a:latin typeface="DejaVu Sans Mono"/>
              </a:rPr>
              <a:t># パターン 1: 推奨 — with 文で自動 finalize</a:t>
            </a:r>
          </a:p>
          <a:p>
            <a:r>
              <a:rPr sz="1200">
                <a:solidFill>
                  <a:srgbClr val="101010"/>
                </a:solidFill>
                <a:latin typeface="DejaVu Sans Mono"/>
              </a:rPr>
              <a:t>with Trlib() as tr:</a:t>
            </a:r>
          </a:p>
          <a:p>
            <a:r>
              <a:rPr sz="1200">
                <a:solidFill>
                  <a:srgbClr val="101010"/>
                </a:solidFill>
                <a:latin typeface="DejaVu Sans Mono"/>
              </a:rPr>
              <a:t>    tr.run(10)</a:t>
            </a:r>
          </a:p>
          <a:p>
            <a:r>
              <a:rPr sz="1200">
                <a:solidFill>
                  <a:srgbClr val="101010"/>
                </a:solidFill>
                <a:latin typeface="DejaVu Sans Mono"/>
              </a:rPr>
              <a:t>    state = tr.get_state()</a:t>
            </a:r>
          </a:p>
          <a:p>
            <a:r>
              <a:rPr sz="1200">
                <a:solidFill>
                  <a:srgbClr val="101010"/>
                </a:solidFill>
                <a:latin typeface="DejaVu Sans Mono"/>
              </a:rPr>
              <a:t># ここで自動的に tr_finalize</a:t>
            </a:r>
          </a:p>
          <a:p>
            <a:r>
              <a:rPr sz="1200">
                <a:solidFill>
                  <a:srgbClr val="101010"/>
                </a:solidFill>
                <a:latin typeface="DejaVu Sans Mono"/>
              </a:rPr>
              <a:t> </a:t>
            </a:r>
          </a:p>
          <a:p>
            <a:r>
              <a:rPr sz="1200">
                <a:solidFill>
                  <a:srgbClr val="101010"/>
                </a:solidFill>
                <a:latin typeface="DejaVu Sans Mono"/>
              </a:rPr>
              <a:t># パターン 2: 明示的に close()</a:t>
            </a:r>
          </a:p>
          <a:p>
            <a:r>
              <a:rPr sz="1200">
                <a:solidFill>
                  <a:srgbClr val="101010"/>
                </a:solidFill>
                <a:latin typeface="DejaVu Sans Mono"/>
              </a:rPr>
              <a:t>tr = Trlib()</a:t>
            </a:r>
          </a:p>
          <a:p>
            <a:r>
              <a:rPr sz="1200">
                <a:solidFill>
                  <a:srgbClr val="101010"/>
                </a:solidFill>
                <a:latin typeface="DejaVu Sans Mono"/>
              </a:rPr>
              <a:t>try:</a:t>
            </a:r>
          </a:p>
          <a:p>
            <a:r>
              <a:rPr sz="1200">
                <a:solidFill>
                  <a:srgbClr val="101010"/>
                </a:solidFill>
                <a:latin typeface="DejaVu Sans Mono"/>
              </a:rPr>
              <a:t>    tr.run(10)</a:t>
            </a:r>
          </a:p>
          <a:p>
            <a:r>
              <a:rPr sz="1200">
                <a:solidFill>
                  <a:srgbClr val="101010"/>
                </a:solidFill>
                <a:latin typeface="DejaVu Sans Mono"/>
              </a:rPr>
              <a:t>finally:</a:t>
            </a:r>
          </a:p>
          <a:p>
            <a:r>
              <a:rPr sz="1200">
                <a:solidFill>
                  <a:srgbClr val="101010"/>
                </a:solidFill>
                <a:latin typeface="DejaVu Sans Mono"/>
              </a:rPr>
              <a:t>    tr.close()</a:t>
            </a:r>
          </a:p>
          <a:p>
            <a:r>
              <a:rPr sz="1200">
                <a:solidFill>
                  <a:srgbClr val="101010"/>
                </a:solidFill>
                <a:latin typeface="DejaVu Sans Mono"/>
              </a:rPr>
              <a:t>    tr.close()    # 冪等 (no-op)</a:t>
            </a:r>
          </a:p>
          <a:p>
            <a:r>
              <a:rPr sz="1200">
                <a:solidFill>
                  <a:srgbClr val="101010"/>
                </a:solidFill>
                <a:latin typeface="DejaVu Sans Mono"/>
              </a:rPr>
              <a:t> </a:t>
            </a:r>
          </a:p>
          <a:p>
            <a:r>
              <a:rPr sz="1200">
                <a:solidFill>
                  <a:srgbClr val="101010"/>
                </a:solidFill>
                <a:latin typeface="DejaVu Sans Mono"/>
              </a:rPr>
              <a:t># パターン 3: 連続再利用 (新しいインスタンス)</a:t>
            </a:r>
          </a:p>
          <a:p>
            <a:r>
              <a:rPr sz="1200">
                <a:solidFill>
                  <a:srgbClr val="101010"/>
                </a:solidFill>
                <a:latin typeface="DejaVu Sans Mono"/>
              </a:rPr>
              <a:t>for case in cases:</a:t>
            </a:r>
          </a:p>
          <a:p>
            <a:r>
              <a:rPr sz="1200">
                <a:solidFill>
                  <a:srgbClr val="101010"/>
                </a:solidFill>
                <a:latin typeface="DejaVu Sans Mono"/>
              </a:rPr>
              <a:t>    with Trlib() as tr:        # 毎回 tr_init</a:t>
            </a:r>
          </a:p>
          <a:p>
            <a:r>
              <a:rPr sz="1200">
                <a:solidFill>
                  <a:srgbClr val="101010"/>
                </a:solidFill>
                <a:latin typeface="DejaVu Sans Mono"/>
              </a:rPr>
              <a:t>        case.apply(tr)</a:t>
            </a:r>
          </a:p>
          <a:p>
            <a:r>
              <a:rPr sz="1200">
                <a:solidFill>
                  <a:srgbClr val="101010"/>
                </a:solidFill>
                <a:latin typeface="DejaVu Sans Mono"/>
              </a:rPr>
              <a:t>        tr.run(case.NTMAX)</a:t>
            </a:r>
          </a:p>
          <a:p>
            <a:r>
              <a:rPr sz="1200">
                <a:solidFill>
                  <a:srgbClr val="101010"/>
                </a:solidFill>
                <a:latin typeface="DejaVu Sans Mono"/>
              </a:rPr>
              <a:t>        results.append(tr.get_state().to_dict())</a:t>
            </a:r>
          </a:p>
          <a:p>
            <a:r>
              <a:rPr sz="1200">
                <a:solidFill>
                  <a:srgbClr val="101010"/>
                </a:solidFill>
                <a:latin typeface="DejaVu Sans Mono"/>
              </a:rPr>
              <a:t> </a:t>
            </a:r>
          </a:p>
        </p:txBody>
      </p:sp>
      <p:sp>
        <p:nvSpPr>
          <p:cNvPr id="6" name="TextBox 5"/>
          <p:cNvSpPr txBox="1"/>
          <p:nvPr/>
        </p:nvSpPr>
        <p:spPr>
          <a:xfrm>
            <a:off x="7863840" y="1188720"/>
            <a:ext cx="4023360" cy="512064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with 文を使うのが最も安全。</a:t>
            </a:r>
          </a:p>
          <a:p>
            <a:pPr algn="l">
              <a:spcAft>
                <a:spcPts val="600"/>
              </a:spcAft>
            </a:pPr>
            <a:r>
              <a:rPr sz="1300">
                <a:solidFill>
                  <a:srgbClr val="101010"/>
                </a:solidFill>
                <a:latin typeface="Noto Sans CJK JP"/>
              </a:rPr>
              <a:t>・ close() は二重呼出も OK (no-op)。</a:t>
            </a:r>
          </a:p>
          <a:p>
            <a:pPr algn="l">
              <a:spcAft>
                <a:spcPts val="600"/>
              </a:spcAft>
            </a:pPr>
            <a:r>
              <a:rPr sz="1300">
                <a:solidFill>
                  <a:srgbClr val="101010"/>
                </a:solidFill>
                <a:latin typeface="Noto Sans CJK JP"/>
              </a:rPr>
              <a:t>・ __del__ も close を試みる (例外は呑む)。</a:t>
            </a:r>
          </a:p>
          <a:p>
            <a:pPr algn="l">
              <a:spcAft>
                <a:spcPts val="600"/>
              </a:spcAft>
            </a:pPr>
            <a:r>
              <a:rPr sz="1300">
                <a:solidFill>
                  <a:srgbClr val="101010"/>
                </a:solidFill>
                <a:latin typeface="Noto Sans CJK JP"/>
              </a:rPr>
              <a:t>・ Trlib() を 2 個同時に開くと COMMON が共有される。</a:t>
            </a:r>
          </a:p>
          <a:p>
            <a:pPr algn="l">
              <a:spcAft>
                <a:spcPts val="600"/>
              </a:spcAft>
            </a:pPr>
            <a:r>
              <a:rPr sz="1300">
                <a:solidFill>
                  <a:srgbClr val="101010"/>
                </a:solidFill>
                <a:latin typeface="Noto Sans CJK JP"/>
              </a:rPr>
              <a:t>・ ループでは毎回 with で開閉し、状態リーク回避。</a:t>
            </a:r>
          </a:p>
          <a:p>
            <a:pPr algn="l">
              <a:spcAft>
                <a:spcPts val="600"/>
              </a:spcAft>
            </a:pPr>
            <a:r>
              <a:rPr sz="1300">
                <a:solidFill>
                  <a:srgbClr val="101010"/>
                </a:solidFill>
                <a:latin typeface="Noto Sans CJK JP"/>
              </a:rPr>
              <a:t>・ 新規 init は前回の COMMON をリセット。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既存 .in からの fixture 化</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namelist の値を Python 辞書に転記する規約</a:t>
            </a:r>
          </a:p>
        </p:txBody>
      </p:sp>
      <p:sp>
        <p:nvSpPr>
          <p:cNvPr id="5" name="Rectangle 4"/>
          <p:cNvSpPr/>
          <p:nvPr/>
        </p:nvSpPr>
        <p:spPr>
          <a:xfrm>
            <a:off x="365760" y="1188720"/>
            <a:ext cx="5486400" cy="51206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namelist 入力</a:t>
            </a:r>
          </a:p>
          <a:p>
            <a:r>
              <a:rPr sz="1200">
                <a:solidFill>
                  <a:srgbClr val="101010"/>
                </a:solidFill>
                <a:latin typeface="DejaVu Sans Mono"/>
              </a:rPr>
              <a:t>! test_run/inputs/tr_tst2.in (抜粋)</a:t>
            </a:r>
          </a:p>
          <a:p>
            <a:r>
              <a:rPr sz="1200">
                <a:solidFill>
                  <a:srgbClr val="101010"/>
                </a:solidFill>
                <a:latin typeface="DejaVu Sans Mono"/>
              </a:rPr>
              <a:t>&amp;TR</a:t>
            </a:r>
          </a:p>
          <a:p>
            <a:r>
              <a:rPr sz="1200">
                <a:solidFill>
                  <a:srgbClr val="101010"/>
                </a:solidFill>
                <a:latin typeface="DejaVu Sans Mono"/>
              </a:rPr>
              <a:t>  modelg=3</a:t>
            </a:r>
          </a:p>
          <a:p>
            <a:r>
              <a:rPr sz="1200">
                <a:solidFill>
                  <a:srgbClr val="101010"/>
                </a:solidFill>
                <a:latin typeface="DejaVu Sans Mono"/>
              </a:rPr>
              <a:t>  KNAMEQ='eqdata.TST-2'</a:t>
            </a:r>
          </a:p>
          <a:p>
            <a:r>
              <a:rPr sz="1200">
                <a:solidFill>
                  <a:srgbClr val="101010"/>
                </a:solidFill>
                <a:latin typeface="DejaVu Sans Mono"/>
              </a:rPr>
              <a:t>  NSMAX=2</a:t>
            </a:r>
          </a:p>
          <a:p>
            <a:r>
              <a:rPr sz="1200">
                <a:solidFill>
                  <a:srgbClr val="101010"/>
                </a:solidFill>
                <a:latin typeface="DejaVu Sans Mono"/>
              </a:rPr>
              <a:t>  PA(2)=1.D0</a:t>
            </a:r>
          </a:p>
          <a:p>
            <a:r>
              <a:rPr sz="1200">
                <a:solidFill>
                  <a:srgbClr val="101010"/>
                </a:solidFill>
                <a:latin typeface="DejaVu Sans Mono"/>
              </a:rPr>
              <a:t>  PZ(2)=1.D0</a:t>
            </a:r>
          </a:p>
          <a:p>
            <a:r>
              <a:rPr sz="1200">
                <a:solidFill>
                  <a:srgbClr val="101010"/>
                </a:solidFill>
                <a:latin typeface="DejaVu Sans Mono"/>
              </a:rPr>
              <a:t>  PN =0.010D0,0.010D0</a:t>
            </a:r>
          </a:p>
          <a:p>
            <a:r>
              <a:rPr sz="1200">
                <a:solidFill>
                  <a:srgbClr val="101010"/>
                </a:solidFill>
                <a:latin typeface="DejaVu Sans Mono"/>
              </a:rPr>
              <a:t>  PT =0.010D0,0.0010D0</a:t>
            </a:r>
          </a:p>
          <a:p>
            <a:r>
              <a:rPr sz="1200">
                <a:solidFill>
                  <a:srgbClr val="101010"/>
                </a:solidFill>
                <a:latin typeface="DejaVu Sans Mono"/>
              </a:rPr>
              <a:t>  DT=1.D-5</a:t>
            </a:r>
          </a:p>
          <a:p>
            <a:r>
              <a:rPr sz="1200">
                <a:solidFill>
                  <a:srgbClr val="101010"/>
                </a:solidFill>
                <a:latin typeface="DejaVu Sans Mono"/>
              </a:rPr>
              <a:t>  NTMAX=10</a:t>
            </a:r>
          </a:p>
          <a:p>
            <a:r>
              <a:rPr sz="1200">
                <a:solidFill>
                  <a:srgbClr val="101010"/>
                </a:solidFill>
                <a:latin typeface="DejaVu Sans Mono"/>
              </a:rPr>
              <a:t>&amp;END</a:t>
            </a:r>
          </a:p>
          <a:p>
            <a:r>
              <a:rPr sz="1200">
                <a:solidFill>
                  <a:srgbClr val="101010"/>
                </a:solidFill>
                <a:latin typeface="DejaVu Sans Mono"/>
              </a:rPr>
              <a:t> </a:t>
            </a:r>
          </a:p>
        </p:txBody>
      </p:sp>
      <p:sp>
        <p:nvSpPr>
          <p:cNvPr id="6" name="Rectangle 5"/>
          <p:cNvSpPr/>
          <p:nvPr/>
        </p:nvSpPr>
        <p:spPr>
          <a:xfrm>
            <a:off x="6035040" y="1188720"/>
            <a:ext cx="5852160" cy="51206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200" b="1">
                <a:solidFill>
                  <a:srgbClr val="555555"/>
                </a:solidFill>
                <a:latin typeface="Noto Sans CJK JP"/>
              </a:rPr>
              <a:t>Python fixture</a:t>
            </a:r>
          </a:p>
          <a:p>
            <a:r>
              <a:rPr sz="1100">
                <a:solidFill>
                  <a:srgbClr val="101010"/>
                </a:solidFill>
                <a:latin typeface="DejaVu Sans Mono"/>
              </a:rPr>
              <a:t># python/trlib/tests/fixtures/tr_tst2_params.py</a:t>
            </a:r>
          </a:p>
          <a:p>
            <a:r>
              <a:rPr sz="1100">
                <a:solidFill>
                  <a:srgbClr val="101010"/>
                </a:solidFill>
                <a:latin typeface="DejaVu Sans Mono"/>
              </a:rPr>
              <a:t>SCALARS = {</a:t>
            </a:r>
          </a:p>
          <a:p>
            <a:r>
              <a:rPr sz="1100">
                <a:solidFill>
                  <a:srgbClr val="101010"/>
                </a:solidFill>
                <a:latin typeface="DejaVu Sans Mono"/>
              </a:rPr>
              <a:t>    'MODELG': 3,</a:t>
            </a:r>
          </a:p>
          <a:p>
            <a:r>
              <a:rPr sz="1100">
                <a:solidFill>
                  <a:srgbClr val="101010"/>
                </a:solidFill>
                <a:latin typeface="DejaVu Sans Mono"/>
              </a:rPr>
              <a:t>    'NSMAX':  2,</a:t>
            </a:r>
          </a:p>
          <a:p>
            <a:r>
              <a:rPr sz="1100">
                <a:solidFill>
                  <a:srgbClr val="101010"/>
                </a:solidFill>
                <a:latin typeface="DejaVu Sans Mono"/>
              </a:rPr>
              <a:t>    'DT':     1.0e-5,</a:t>
            </a:r>
          </a:p>
          <a:p>
            <a:r>
              <a:rPr sz="1100">
                <a:solidFill>
                  <a:srgbClr val="101010"/>
                </a:solidFill>
                <a:latin typeface="DejaVu Sans Mono"/>
              </a:rPr>
              <a:t>    'NTMAX':  10,</a:t>
            </a:r>
          </a:p>
          <a:p>
            <a:r>
              <a:rPr sz="1100">
                <a:solidFill>
                  <a:srgbClr val="101010"/>
                </a:solidFill>
                <a:latin typeface="DejaVu Sans Mono"/>
              </a:rPr>
              <a:t>}</a:t>
            </a:r>
          </a:p>
          <a:p>
            <a:r>
              <a:rPr sz="1100">
                <a:solidFill>
                  <a:srgbClr val="101010"/>
                </a:solidFill>
                <a:latin typeface="DejaVu Sans Mono"/>
              </a:rPr>
              <a:t>ARRAYS = {</a:t>
            </a:r>
          </a:p>
          <a:p>
            <a:r>
              <a:rPr sz="1100">
                <a:solidFill>
                  <a:srgbClr val="101010"/>
                </a:solidFill>
                <a:latin typeface="DejaVu Sans Mono"/>
              </a:rPr>
              <a:t>    'PA': {2: 1.0},     # 添字付き dict</a:t>
            </a:r>
          </a:p>
          <a:p>
            <a:r>
              <a:rPr sz="1100">
                <a:solidFill>
                  <a:srgbClr val="101010"/>
                </a:solidFill>
                <a:latin typeface="DejaVu Sans Mono"/>
              </a:rPr>
              <a:t>    'PZ': {2: 1.0},</a:t>
            </a:r>
          </a:p>
          <a:p>
            <a:r>
              <a:rPr sz="1100">
                <a:solidFill>
                  <a:srgbClr val="101010"/>
                </a:solidFill>
                <a:latin typeface="DejaVu Sans Mono"/>
              </a:rPr>
              <a:t>    'PN': [0.010, 0.010],  # 1-origin リスト</a:t>
            </a:r>
          </a:p>
          <a:p>
            <a:r>
              <a:rPr sz="1100">
                <a:solidFill>
                  <a:srgbClr val="101010"/>
                </a:solidFill>
                <a:latin typeface="DejaVu Sans Mono"/>
              </a:rPr>
              <a:t>    'PT': [0.010, 0.0010],</a:t>
            </a:r>
          </a:p>
          <a:p>
            <a:r>
              <a:rPr sz="1100">
                <a:solidFill>
                  <a:srgbClr val="101010"/>
                </a:solidFill>
                <a:latin typeface="DejaVu Sans Mono"/>
              </a:rPr>
              <a:t>}</a:t>
            </a:r>
          </a:p>
          <a:p>
            <a:r>
              <a:rPr sz="1100">
                <a:solidFill>
                  <a:srgbClr val="101010"/>
                </a:solidFill>
                <a:latin typeface="DejaVu Sans Mono"/>
              </a:rPr>
              <a:t>STRINGS = {</a:t>
            </a:r>
          </a:p>
          <a:p>
            <a:r>
              <a:rPr sz="1100">
                <a:solidFill>
                  <a:srgbClr val="101010"/>
                </a:solidFill>
                <a:latin typeface="DejaVu Sans Mono"/>
              </a:rPr>
              <a:t>    'KNAMEQ': 'eqdata.TST-2',</a:t>
            </a:r>
          </a:p>
          <a:p>
            <a:r>
              <a:rPr sz="1100">
                <a:solidFill>
                  <a:srgbClr val="101010"/>
                </a:solidFill>
                <a:latin typeface="DejaVu Sans Mono"/>
              </a:rPr>
              <a:t>}</a:t>
            </a:r>
          </a:p>
          <a:p>
            <a:r>
              <a:rPr sz="1100">
                <a:solidFill>
                  <a:srgbClr val="101010"/>
                </a:solidFill>
                <a:latin typeface="DejaVu Sans Mono"/>
              </a:rPr>
              <a:t> </a:t>
            </a:r>
          </a:p>
          <a:p>
            <a:r>
              <a:rPr sz="1100">
                <a:solidFill>
                  <a:srgbClr val="101010"/>
                </a:solidFill>
                <a:latin typeface="DejaVu Sans Mono"/>
              </a:rPr>
              <a:t>def apply(tr):</a:t>
            </a:r>
          </a:p>
          <a:p>
            <a:r>
              <a:rPr sz="1100">
                <a:solidFill>
                  <a:srgbClr val="101010"/>
                </a:solidFill>
                <a:latin typeface="DejaVu Sans Mono"/>
              </a:rPr>
              <a:t>    for k, v in STRINGS.items():</a:t>
            </a:r>
          </a:p>
          <a:p>
            <a:r>
              <a:rPr sz="1100">
                <a:solidFill>
                  <a:srgbClr val="101010"/>
                </a:solidFill>
                <a:latin typeface="DejaVu Sans Mono"/>
              </a:rPr>
              <a:t>        tr.set_param_str(k, str(v))</a:t>
            </a:r>
          </a:p>
          <a:p>
            <a:r>
              <a:rPr sz="1100">
                <a:solidFill>
                  <a:srgbClr val="101010"/>
                </a:solidFill>
                <a:latin typeface="DejaVu Sans Mono"/>
              </a:rPr>
              <a:t>    for k, v in SCALARS.items():</a:t>
            </a:r>
          </a:p>
          <a:p>
            <a:r>
              <a:rPr sz="1100">
                <a:solidFill>
                  <a:srgbClr val="101010"/>
                </a:solidFill>
                <a:latin typeface="DejaVu Sans Mono"/>
              </a:rPr>
              <a:t>        tr.set_param(k, float(v))</a:t>
            </a:r>
          </a:p>
          <a:p>
            <a:r>
              <a:rPr sz="1100">
                <a:solidFill>
                  <a:srgbClr val="101010"/>
                </a:solidFill>
                <a:latin typeface="DejaVu Sans Mono"/>
              </a:rPr>
              <a:t>    for name, arr in ARRAYS.items():</a:t>
            </a:r>
          </a:p>
          <a:p>
            <a:r>
              <a:rPr sz="1100">
                <a:solidFill>
                  <a:srgbClr val="101010"/>
                </a:solidFill>
                <a:latin typeface="DejaVu Sans Mono"/>
              </a:rPr>
              <a:t>        _apply_array(tr, name, arr)</a:t>
            </a:r>
          </a:p>
          <a:p>
            <a:r>
              <a:rPr sz="1100">
                <a:solidFill>
                  <a:srgbClr val="101010"/>
                </a:solidFill>
                <a:latin typeface="DejaVu Sans Mono"/>
              </a:rPr>
              <a:t> </a:t>
            </a:r>
          </a:p>
        </p:txBody>
      </p:sp>
      <p:sp>
        <p:nvSpPr>
          <p:cNvPr id="7" name="TextBox 6"/>
          <p:cNvSpPr txBox="1"/>
          <p:nvPr/>
        </p:nvSpPr>
        <p:spPr>
          <a:xfrm>
            <a:off x="365760" y="6400800"/>
            <a:ext cx="11430000" cy="365760"/>
          </a:xfrm>
          <a:prstGeom prst="rect">
            <a:avLst/>
          </a:prstGeom>
          <a:noFill/>
        </p:spPr>
        <p:txBody>
          <a:bodyPr wrap="square" lIns="36000" rIns="36000" tIns="18000" bIns="18000" anchor="t">
            <a:spAutoFit/>
          </a:bodyPr>
          <a:lstStyle/>
          <a:p>
            <a:pPr algn="l"/>
            <a:r>
              <a:rPr sz="1100" b="0">
                <a:solidFill>
                  <a:srgbClr val="555555"/>
                </a:solidFill>
                <a:latin typeface="Noto Sans CJK JP"/>
              </a:rPr>
              <a:t>規約: SCALARS / ARRAYS / STRINGS の 3 辞書で分類し、apply(tr) で順に set_param 系を呼ぶ。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パラメータスイープ例</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RR × BB の 2D グリッドを Python ループで</a:t>
            </a:r>
          </a:p>
        </p:txBody>
      </p:sp>
      <p:sp>
        <p:nvSpPr>
          <p:cNvPr id="5" name="Rectangle 4"/>
          <p:cNvSpPr/>
          <p:nvPr/>
        </p:nvSpPr>
        <p:spPr>
          <a:xfrm>
            <a:off x="365760" y="1188720"/>
            <a:ext cx="7680960" cy="521208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sweep.py (test_sweep.py を簡略化)</a:t>
            </a:r>
          </a:p>
          <a:p>
            <a:r>
              <a:rPr sz="1200">
                <a:solidFill>
                  <a:srgbClr val="101010"/>
                </a:solidFill>
                <a:latin typeface="DejaVu Sans Mono"/>
              </a:rPr>
              <a:t>from trlib import Trlib</a:t>
            </a:r>
          </a:p>
          <a:p>
            <a:r>
              <a:rPr sz="1200">
                <a:solidFill>
                  <a:srgbClr val="101010"/>
                </a:solidFill>
                <a:latin typeface="DejaVu Sans Mono"/>
              </a:rPr>
              <a:t>from trlib.tests.fixtures import tr_iter01_params</a:t>
            </a:r>
          </a:p>
          <a:p>
            <a:r>
              <a:rPr sz="1200">
                <a:solidFill>
                  <a:srgbClr val="101010"/>
                </a:solidFill>
                <a:latin typeface="DejaVu Sans Mono"/>
              </a:rPr>
              <a:t>import os</a:t>
            </a:r>
          </a:p>
          <a:p>
            <a:r>
              <a:rPr sz="1200">
                <a:solidFill>
                  <a:srgbClr val="101010"/>
                </a:solidFill>
                <a:latin typeface="DejaVu Sans Mono"/>
              </a:rPr>
              <a:t>from pathlib import Path</a:t>
            </a:r>
          </a:p>
          <a:p>
            <a:r>
              <a:rPr sz="1200">
                <a:solidFill>
                  <a:srgbClr val="101010"/>
                </a:solidFill>
                <a:latin typeface="DejaVu Sans Mono"/>
              </a:rPr>
              <a:t> </a:t>
            </a:r>
          </a:p>
          <a:p>
            <a:r>
              <a:rPr sz="1200">
                <a:solidFill>
                  <a:srgbClr val="101010"/>
                </a:solidFill>
                <a:latin typeface="DejaVu Sans Mono"/>
              </a:rPr>
              <a:t>RR_VALUES = (7.5, 8.0, 8.5)</a:t>
            </a:r>
          </a:p>
          <a:p>
            <a:r>
              <a:rPr sz="1200">
                <a:solidFill>
                  <a:srgbClr val="101010"/>
                </a:solidFill>
                <a:latin typeface="DejaVu Sans Mono"/>
              </a:rPr>
              <a:t>BB_VALUES = (4.5, 5.0, 5.5)</a:t>
            </a:r>
          </a:p>
          <a:p>
            <a:r>
              <a:rPr sz="1200">
                <a:solidFill>
                  <a:srgbClr val="101010"/>
                </a:solidFill>
                <a:latin typeface="DejaVu Sans Mono"/>
              </a:rPr>
              <a:t>NTMAX = 5</a:t>
            </a:r>
          </a:p>
          <a:p>
            <a:r>
              <a:rPr sz="1200">
                <a:solidFill>
                  <a:srgbClr val="101010"/>
                </a:solidFill>
                <a:latin typeface="DejaVu Sans Mono"/>
              </a:rPr>
              <a:t> </a:t>
            </a:r>
          </a:p>
          <a:p>
            <a:r>
              <a:rPr sz="1200">
                <a:solidFill>
                  <a:srgbClr val="101010"/>
                </a:solidFill>
                <a:latin typeface="DejaVu Sans Mono"/>
              </a:rPr>
              <a:t>os.chdir(Path('test_run/test_output/tr_iter01'))  # eqdata.ITER01 を読むため</a:t>
            </a:r>
          </a:p>
          <a:p>
            <a:r>
              <a:rPr sz="1200">
                <a:solidFill>
                  <a:srgbClr val="101010"/>
                </a:solidFill>
                <a:latin typeface="DejaVu Sans Mono"/>
              </a:rPr>
              <a:t> </a:t>
            </a:r>
          </a:p>
          <a:p>
            <a:r>
              <a:rPr sz="1200">
                <a:solidFill>
                  <a:srgbClr val="101010"/>
                </a:solidFill>
                <a:latin typeface="DejaVu Sans Mono"/>
              </a:rPr>
              <a:t>results = []</a:t>
            </a:r>
          </a:p>
          <a:p>
            <a:r>
              <a:rPr sz="1200">
                <a:solidFill>
                  <a:srgbClr val="101010"/>
                </a:solidFill>
                <a:latin typeface="DejaVu Sans Mono"/>
              </a:rPr>
              <a:t>for rr in RR_VALUES:</a:t>
            </a:r>
          </a:p>
          <a:p>
            <a:r>
              <a:rPr sz="1200">
                <a:solidFill>
                  <a:srgbClr val="101010"/>
                </a:solidFill>
                <a:latin typeface="DejaVu Sans Mono"/>
              </a:rPr>
              <a:t>    for bb in BB_VALUES:</a:t>
            </a:r>
          </a:p>
          <a:p>
            <a:r>
              <a:rPr sz="1200">
                <a:solidFill>
                  <a:srgbClr val="101010"/>
                </a:solidFill>
                <a:latin typeface="DejaVu Sans Mono"/>
              </a:rPr>
              <a:t>        with Trlib() as tr:</a:t>
            </a:r>
          </a:p>
          <a:p>
            <a:r>
              <a:rPr sz="1200">
                <a:solidFill>
                  <a:srgbClr val="101010"/>
                </a:solidFill>
                <a:latin typeface="DejaVu Sans Mono"/>
              </a:rPr>
              <a:t>            tr_iter01_params.apply(tr)         # ベース fixture</a:t>
            </a:r>
          </a:p>
          <a:p>
            <a:r>
              <a:rPr sz="1200">
                <a:solidFill>
                  <a:srgbClr val="101010"/>
                </a:solidFill>
                <a:latin typeface="DejaVu Sans Mono"/>
              </a:rPr>
              <a:t>            tr.set_param('RR', float(rr))      # 軸を上書き</a:t>
            </a:r>
          </a:p>
          <a:p>
            <a:r>
              <a:rPr sz="1200">
                <a:solidFill>
                  <a:srgbClr val="101010"/>
                </a:solidFill>
                <a:latin typeface="DejaVu Sans Mono"/>
              </a:rPr>
              <a:t>            tr.set_param('BB', float(bb))</a:t>
            </a:r>
          </a:p>
          <a:p>
            <a:r>
              <a:rPr sz="1200">
                <a:solidFill>
                  <a:srgbClr val="101010"/>
                </a:solidFill>
                <a:latin typeface="DejaVu Sans Mono"/>
              </a:rPr>
              <a:t>            tr.run(NTMAX)</a:t>
            </a:r>
          </a:p>
          <a:p>
            <a:r>
              <a:rPr sz="1200">
                <a:solidFill>
                  <a:srgbClr val="101010"/>
                </a:solidFill>
                <a:latin typeface="DejaVu Sans Mono"/>
              </a:rPr>
              <a:t>            wpt = tr.get_state().scalars['WPT']</a:t>
            </a:r>
          </a:p>
          <a:p>
            <a:r>
              <a:rPr sz="1200">
                <a:solidFill>
                  <a:srgbClr val="101010"/>
                </a:solidFill>
                <a:latin typeface="DejaVu Sans Mono"/>
              </a:rPr>
              <a:t>            results.append((rr, bb, wpt))</a:t>
            </a:r>
          </a:p>
          <a:p>
            <a:r>
              <a:rPr sz="1200">
                <a:solidFill>
                  <a:srgbClr val="101010"/>
                </a:solidFill>
                <a:latin typeface="DejaVu Sans Mono"/>
              </a:rPr>
              <a:t> </a:t>
            </a:r>
          </a:p>
          <a:p>
            <a:r>
              <a:rPr sz="1200">
                <a:solidFill>
                  <a:srgbClr val="101010"/>
                </a:solidFill>
                <a:latin typeface="DejaVu Sans Mono"/>
              </a:rPr>
              <a:t>for rr, bb, wpt in results:</a:t>
            </a:r>
          </a:p>
          <a:p>
            <a:r>
              <a:rPr sz="1200">
                <a:solidFill>
                  <a:srgbClr val="101010"/>
                </a:solidFill>
                <a:latin typeface="DejaVu Sans Mono"/>
              </a:rPr>
              <a:t>    print(f'RR={rr:.2f} BB={bb:.2f} WPT={wpt:.4e}')</a:t>
            </a:r>
          </a:p>
          <a:p>
            <a:r>
              <a:rPr sz="1200">
                <a:solidFill>
                  <a:srgbClr val="101010"/>
                </a:solidFill>
                <a:latin typeface="DejaVu Sans Mono"/>
              </a:rPr>
              <a:t> </a:t>
            </a:r>
          </a:p>
        </p:txBody>
      </p:sp>
      <p:sp>
        <p:nvSpPr>
          <p:cNvPr id="6" name="TextBox 5"/>
          <p:cNvSpPr txBox="1"/>
          <p:nvPr/>
        </p:nvSpPr>
        <p:spPr>
          <a:xfrm>
            <a:off x="8229600" y="1188720"/>
            <a:ext cx="3566160" cy="521208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ベース fixture を共通化。</a:t>
            </a:r>
          </a:p>
          <a:p>
            <a:pPr algn="l">
              <a:spcAft>
                <a:spcPts val="600"/>
              </a:spcAft>
            </a:pPr>
            <a:r>
              <a:rPr sz="1300">
                <a:solidFill>
                  <a:srgbClr val="101010"/>
                </a:solidFill>
                <a:latin typeface="Noto Sans CJK JP"/>
              </a:rPr>
              <a:t>・ 毎ループ Trlib() を再生成。</a:t>
            </a:r>
          </a:p>
          <a:p>
            <a:pPr algn="l">
              <a:spcAft>
                <a:spcPts val="600"/>
              </a:spcAft>
            </a:pPr>
            <a:r>
              <a:rPr sz="1300">
                <a:solidFill>
                  <a:srgbClr val="101010"/>
                </a:solidFill>
                <a:latin typeface="Noto Sans CJK JP"/>
              </a:rPr>
              <a:t>・ 状態リーク防止 (前ページ参照)。</a:t>
            </a:r>
          </a:p>
          <a:p>
            <a:pPr algn="l">
              <a:spcAft>
                <a:spcPts val="600"/>
              </a:spcAft>
            </a:pPr>
            <a:r>
              <a:rPr sz="1300">
                <a:solidFill>
                  <a:srgbClr val="101010"/>
                </a:solidFill>
                <a:latin typeface="Noto Sans CJK JP"/>
              </a:rPr>
              <a:t>・ WPT が finite かを Layer 4 で確認。</a:t>
            </a:r>
          </a:p>
          <a:p>
            <a:pPr algn="l">
              <a:spcAft>
                <a:spcPts val="600"/>
              </a:spcAft>
            </a:pPr>
            <a:r>
              <a:rPr sz="1300">
                <a:solidFill>
                  <a:srgbClr val="101010"/>
                </a:solidFill>
                <a:latin typeface="Noto Sans CJK JP"/>
              </a:rPr>
              <a:t>・ MODELG=3 では eqdata の chdir が必要。</a:t>
            </a:r>
          </a:p>
          <a:p>
            <a:pPr algn="l">
              <a:spcAft>
                <a:spcPts val="600"/>
              </a:spcAft>
            </a:pPr>
            <a:r>
              <a:rPr sz="1300">
                <a:solidFill>
                  <a:srgbClr val="101010"/>
                </a:solidFill>
                <a:latin typeface="Noto Sans CJK JP"/>
              </a:rPr>
              <a:t>・ scipy.optimize と組み合わせ可。</a:t>
            </a:r>
          </a:p>
        </p:txBody>
      </p:sp>
      <p:sp>
        <p:nvSpPr>
          <p:cNvPr id="7" name="TextBox 6"/>
          <p:cNvSpPr txBox="1"/>
          <p:nvPr/>
        </p:nvSpPr>
        <p:spPr>
          <a:xfrm>
            <a:off x="365760" y="6446520"/>
            <a:ext cx="11430000" cy="365760"/>
          </a:xfrm>
          <a:prstGeom prst="rect">
            <a:avLst/>
          </a:prstGeom>
          <a:noFill/>
        </p:spPr>
        <p:txBody>
          <a:bodyPr wrap="square" lIns="36000" rIns="36000" tIns="18000" bIns="18000" anchor="t">
            <a:spAutoFit/>
          </a:bodyPr>
          <a:lstStyle/>
          <a:p>
            <a:pPr algn="l"/>
            <a:r>
              <a:rPr sz="1100" b="0">
                <a:solidFill>
                  <a:srgbClr val="555555"/>
                </a:solidFill>
                <a:latin typeface="Noto Sans CJK JP"/>
              </a:rPr>
              <a:t>実装例は python/trlib/tests/test_sweep.py を参照 (Layer 4 スモークテスト)。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プロット例: matplotlib で温度プロファイル</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state.to_dict() からそのまま描画</a:t>
            </a:r>
          </a:p>
        </p:txBody>
      </p:sp>
      <p:sp>
        <p:nvSpPr>
          <p:cNvPr id="5" name="Rectangle 4"/>
          <p:cNvSpPr/>
          <p:nvPr/>
        </p:nvSpPr>
        <p:spPr>
          <a:xfrm>
            <a:off x="365760" y="1188720"/>
            <a:ext cx="7680960" cy="521208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plot.py</a:t>
            </a:r>
          </a:p>
          <a:p>
            <a:r>
              <a:rPr sz="1200">
                <a:solidFill>
                  <a:srgbClr val="101010"/>
                </a:solidFill>
                <a:latin typeface="DejaVu Sans Mono"/>
              </a:rPr>
              <a:t>import matplotlib.pyplot as plt</a:t>
            </a:r>
          </a:p>
          <a:p>
            <a:r>
              <a:rPr sz="1200">
                <a:solidFill>
                  <a:srgbClr val="101010"/>
                </a:solidFill>
                <a:latin typeface="DejaVu Sans Mono"/>
              </a:rPr>
              <a:t>from trlib import Trlib</a:t>
            </a:r>
          </a:p>
          <a:p>
            <a:r>
              <a:rPr sz="1200">
                <a:solidFill>
                  <a:srgbClr val="101010"/>
                </a:solidFill>
                <a:latin typeface="DejaVu Sans Mono"/>
              </a:rPr>
              <a:t>from trlib.tests.fixtures import tr_tst2_params</a:t>
            </a:r>
          </a:p>
          <a:p>
            <a:r>
              <a:rPr sz="1200">
                <a:solidFill>
                  <a:srgbClr val="101010"/>
                </a:solidFill>
                <a:latin typeface="DejaVu Sans Mono"/>
              </a:rPr>
              <a:t>import os</a:t>
            </a:r>
          </a:p>
          <a:p>
            <a:r>
              <a:rPr sz="1200">
                <a:solidFill>
                  <a:srgbClr val="101010"/>
                </a:solidFill>
                <a:latin typeface="DejaVu Sans Mono"/>
              </a:rPr>
              <a:t> </a:t>
            </a:r>
          </a:p>
          <a:p>
            <a:r>
              <a:rPr sz="1200">
                <a:solidFill>
                  <a:srgbClr val="101010"/>
                </a:solidFill>
                <a:latin typeface="DejaVu Sans Mono"/>
              </a:rPr>
              <a:t>os.chdir('test_run/test_output/tr_tst2')</a:t>
            </a:r>
          </a:p>
          <a:p>
            <a:r>
              <a:rPr sz="1200">
                <a:solidFill>
                  <a:srgbClr val="101010"/>
                </a:solidFill>
                <a:latin typeface="DejaVu Sans Mono"/>
              </a:rPr>
              <a:t> </a:t>
            </a:r>
          </a:p>
          <a:p>
            <a:r>
              <a:rPr sz="1200">
                <a:solidFill>
                  <a:srgbClr val="101010"/>
                </a:solidFill>
                <a:latin typeface="DejaVu Sans Mono"/>
              </a:rPr>
              <a:t>with Trlib() as tr:</a:t>
            </a:r>
          </a:p>
          <a:p>
            <a:r>
              <a:rPr sz="1200">
                <a:solidFill>
                  <a:srgbClr val="101010"/>
                </a:solidFill>
                <a:latin typeface="DejaVu Sans Mono"/>
              </a:rPr>
              <a:t>    tr_tst2_params.apply(tr)</a:t>
            </a:r>
          </a:p>
          <a:p>
            <a:r>
              <a:rPr sz="1200">
                <a:solidFill>
                  <a:srgbClr val="101010"/>
                </a:solidFill>
                <a:latin typeface="DejaVu Sans Mono"/>
              </a:rPr>
              <a:t>    tr.run(tr_tst2_params.NTMAX)</a:t>
            </a:r>
          </a:p>
          <a:p>
            <a:r>
              <a:rPr sz="1200">
                <a:solidFill>
                  <a:srgbClr val="101010"/>
                </a:solidFill>
                <a:latin typeface="DejaVu Sans Mono"/>
              </a:rPr>
              <a:t>    state = tr.get_state()</a:t>
            </a:r>
          </a:p>
          <a:p>
            <a:r>
              <a:rPr sz="1200">
                <a:solidFill>
                  <a:srgbClr val="101010"/>
                </a:solidFill>
                <a:latin typeface="DejaVu Sans Mono"/>
              </a:rPr>
              <a:t> </a:t>
            </a:r>
          </a:p>
          <a:p>
            <a:r>
              <a:rPr sz="1200">
                <a:solidFill>
                  <a:srgbClr val="101010"/>
                </a:solidFill>
                <a:latin typeface="DejaVu Sans Mono"/>
              </a:rPr>
              <a:t>d = state.to_dict()</a:t>
            </a:r>
          </a:p>
          <a:p>
            <a:r>
              <a:rPr sz="1200">
                <a:solidFill>
                  <a:srgbClr val="101010"/>
                </a:solidFill>
                <a:latin typeface="DejaVu Sans Mono"/>
              </a:rPr>
              <a:t>rho = [row['NR'] / d['NRMAX'] for row in d['profile']]</a:t>
            </a:r>
          </a:p>
          <a:p>
            <a:r>
              <a:rPr sz="1200">
                <a:solidFill>
                  <a:srgbClr val="101010"/>
                </a:solidFill>
                <a:latin typeface="DejaVu Sans Mono"/>
              </a:rPr>
              <a:t>te  = [row['RT'][0]            for row in d['profile']]  # 1 種目 = 電子</a:t>
            </a:r>
          </a:p>
          <a:p>
            <a:r>
              <a:rPr sz="1200">
                <a:solidFill>
                  <a:srgbClr val="101010"/>
                </a:solidFill>
                <a:latin typeface="DejaVu Sans Mono"/>
              </a:rPr>
              <a:t>ti  = [row['RT'][1]            for row in d['profile']]  # 2 種目 = イオン</a:t>
            </a:r>
          </a:p>
          <a:p>
            <a:r>
              <a:rPr sz="1200">
                <a:solidFill>
                  <a:srgbClr val="101010"/>
                </a:solidFill>
                <a:latin typeface="DejaVu Sans Mono"/>
              </a:rPr>
              <a:t> </a:t>
            </a:r>
          </a:p>
          <a:p>
            <a:r>
              <a:rPr sz="1200">
                <a:solidFill>
                  <a:srgbClr val="101010"/>
                </a:solidFill>
                <a:latin typeface="DejaVu Sans Mono"/>
              </a:rPr>
              <a:t>fig, ax = plt.subplots()</a:t>
            </a:r>
          </a:p>
          <a:p>
            <a:r>
              <a:rPr sz="1200">
                <a:solidFill>
                  <a:srgbClr val="101010"/>
                </a:solidFill>
                <a:latin typeface="DejaVu Sans Mono"/>
              </a:rPr>
              <a:t>ax.plot(rho, te, label='Te')</a:t>
            </a:r>
          </a:p>
          <a:p>
            <a:r>
              <a:rPr sz="1200">
                <a:solidFill>
                  <a:srgbClr val="101010"/>
                </a:solidFill>
                <a:latin typeface="DejaVu Sans Mono"/>
              </a:rPr>
              <a:t>ax.plot(rho, ti, label='Ti')</a:t>
            </a:r>
          </a:p>
          <a:p>
            <a:r>
              <a:rPr sz="1200">
                <a:solidFill>
                  <a:srgbClr val="101010"/>
                </a:solidFill>
                <a:latin typeface="DejaVu Sans Mono"/>
              </a:rPr>
              <a:t>ax.set_xlabel(r'$\rho$  (normalised radius)')</a:t>
            </a:r>
          </a:p>
          <a:p>
            <a:r>
              <a:rPr sz="1200">
                <a:solidFill>
                  <a:srgbClr val="101010"/>
                </a:solidFill>
                <a:latin typeface="DejaVu Sans Mono"/>
              </a:rPr>
              <a:t>ax.set_ylabel('temperature [keV]')</a:t>
            </a:r>
          </a:p>
          <a:p>
            <a:r>
              <a:rPr sz="1200">
                <a:solidFill>
                  <a:srgbClr val="101010"/>
                </a:solidFill>
                <a:latin typeface="DejaVu Sans Mono"/>
              </a:rPr>
              <a:t>ax.legend()</a:t>
            </a:r>
          </a:p>
          <a:p>
            <a:r>
              <a:rPr sz="1200">
                <a:solidFill>
                  <a:srgbClr val="101010"/>
                </a:solidFill>
                <a:latin typeface="DejaVu Sans Mono"/>
              </a:rPr>
              <a:t>fig.savefig('te_profile.png')</a:t>
            </a:r>
          </a:p>
          <a:p>
            <a:r>
              <a:rPr sz="1200">
                <a:solidFill>
                  <a:srgbClr val="101010"/>
                </a:solidFill>
                <a:latin typeface="DejaVu Sans Mono"/>
              </a:rPr>
              <a:t> </a:t>
            </a:r>
          </a:p>
        </p:txBody>
      </p:sp>
      <p:sp>
        <p:nvSpPr>
          <p:cNvPr id="6" name="TextBox 5"/>
          <p:cNvSpPr txBox="1"/>
          <p:nvPr/>
        </p:nvSpPr>
        <p:spPr>
          <a:xfrm>
            <a:off x="8229600" y="1188720"/>
            <a:ext cx="3566160" cy="521208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to_dict() は素の Python list/dict。</a:t>
            </a:r>
          </a:p>
          <a:p>
            <a:pPr algn="l">
              <a:spcAft>
                <a:spcPts val="600"/>
              </a:spcAft>
            </a:pPr>
            <a:r>
              <a:rPr sz="1300">
                <a:solidFill>
                  <a:srgbClr val="101010"/>
                </a:solidFill>
                <a:latin typeface="Noto Sans CJK JP"/>
              </a:rPr>
              <a:t>・ numpy なしでも plot 可能。</a:t>
            </a:r>
          </a:p>
          <a:p>
            <a:pPr algn="l">
              <a:spcAft>
                <a:spcPts val="600"/>
              </a:spcAft>
            </a:pPr>
            <a:r>
              <a:rPr sz="1300">
                <a:solidFill>
                  <a:srgbClr val="101010"/>
                </a:solidFill>
                <a:latin typeface="Noto Sans CJK JP"/>
              </a:rPr>
              <a:t>・ RT[0] が電子、RT[1] が主イオン。</a:t>
            </a:r>
          </a:p>
          <a:p>
            <a:pPr algn="l">
              <a:spcAft>
                <a:spcPts val="600"/>
              </a:spcAft>
            </a:pPr>
            <a:r>
              <a:rPr sz="1300">
                <a:solidFill>
                  <a:srgbClr val="101010"/>
                </a:solidFill>
                <a:latin typeface="Noto Sans CJK JP"/>
              </a:rPr>
              <a:t>・ AJ / QP も同様に取り出せる。</a:t>
            </a:r>
          </a:p>
          <a:p>
            <a:pPr algn="l">
              <a:spcAft>
                <a:spcPts val="600"/>
              </a:spcAft>
            </a:pPr>
            <a:r>
              <a:rPr sz="1300">
                <a:solidFill>
                  <a:srgbClr val="101010"/>
                </a:solidFill>
                <a:latin typeface="Noto Sans CJK JP"/>
              </a:rPr>
              <a:t>・ Jupyter なら plt.show() で対話的に。</a:t>
            </a:r>
          </a:p>
          <a:p>
            <a:pPr algn="l">
              <a:spcAft>
                <a:spcPts val="600"/>
              </a:spcAft>
            </a:pPr>
            <a:r>
              <a:rPr sz="1300">
                <a:solidFill>
                  <a:srgbClr val="101010"/>
                </a:solidFill>
                <a:latin typeface="Noto Sans CJK JP"/>
              </a:rPr>
              <a:t>・ 可視化 API (tr.plot) は将来拡張予定。</a:t>
            </a:r>
          </a:p>
        </p:txBody>
      </p:sp>
      <p:sp>
        <p:nvSpPr>
          <p:cNvPr id="7" name="TextBox 6"/>
          <p:cNvSpPr txBox="1"/>
          <p:nvPr/>
        </p:nvSpPr>
        <p:spPr>
          <a:xfrm>
            <a:off x="365760" y="6446520"/>
            <a:ext cx="11430000" cy="365760"/>
          </a:xfrm>
          <a:prstGeom prst="rect">
            <a:avLst/>
          </a:prstGeom>
          <a:noFill/>
        </p:spPr>
        <p:txBody>
          <a:bodyPr wrap="square" lIns="36000" rIns="36000" tIns="18000" bIns="18000" anchor="t">
            <a:spAutoFit/>
          </a:bodyPr>
          <a:lstStyle/>
          <a:p>
            <a:pPr algn="l"/>
            <a:r>
              <a:rPr sz="1100" b="0">
                <a:solidFill>
                  <a:srgbClr val="555555"/>
                </a:solidFill>
                <a:latin typeface="Noto Sans CJK JP"/>
              </a:rPr>
              <a:t>to_dict() の profile 配列は NR=1..NRMAX。各要素は RN / RT / AJ / QP を持ちます。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デバッグ: dump-and-diff</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TR_DUMP_STATE で binary vs library のずれを 1 発で特定</a:t>
            </a:r>
          </a:p>
        </p:txBody>
      </p:sp>
      <p:sp>
        <p:nvSpPr>
          <p:cNvPr id="5" name="Rectangle 4"/>
          <p:cNvSpPr/>
          <p:nvPr/>
        </p:nvSpPr>
        <p:spPr>
          <a:xfrm>
            <a:off x="365760" y="1188720"/>
            <a:ext cx="7680960" cy="49377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dump-and-diff の手順</a:t>
            </a:r>
          </a:p>
          <a:p>
            <a:r>
              <a:rPr sz="1200">
                <a:solidFill>
                  <a:srgbClr val="101010"/>
                </a:solidFill>
                <a:latin typeface="DejaVu Sans Mono"/>
              </a:rPr>
              <a:t># 1. バイナリ側で state を dump</a:t>
            </a:r>
          </a:p>
          <a:p>
            <a:r>
              <a:rPr sz="1200">
                <a:solidFill>
                  <a:srgbClr val="101010"/>
                </a:solidFill>
                <a:latin typeface="DejaVu Sans Mono"/>
              </a:rPr>
              <a:t>$ rm -f /tmp/dump_bin.txt</a:t>
            </a:r>
          </a:p>
          <a:p>
            <a:r>
              <a:rPr sz="1200">
                <a:solidFill>
                  <a:srgbClr val="101010"/>
                </a:solidFill>
                <a:latin typeface="DejaVu Sans Mono"/>
              </a:rPr>
              <a:t>$ TR_DUMP_STATE=/tmp/dump_bin.txt \</a:t>
            </a:r>
          </a:p>
          <a:p>
            <a:r>
              <a:rPr sz="1200">
                <a:solidFill>
                  <a:srgbClr val="101010"/>
                </a:solidFill>
                <a:latin typeface="DejaVu Sans Mono"/>
              </a:rPr>
              <a:t>      bash test_run/run_tests.sh tr_tst2</a:t>
            </a:r>
          </a:p>
          <a:p>
            <a:r>
              <a:rPr sz="1200">
                <a:solidFill>
                  <a:srgbClr val="101010"/>
                </a:solidFill>
                <a:latin typeface="DejaVu Sans Mono"/>
              </a:rPr>
              <a:t> </a:t>
            </a:r>
          </a:p>
          <a:p>
            <a:r>
              <a:rPr sz="1200">
                <a:solidFill>
                  <a:srgbClr val="101010"/>
                </a:solidFill>
                <a:latin typeface="DejaVu Sans Mono"/>
              </a:rPr>
              <a:t># 2. ライブラリ (Python) 側で同じ条件で dump</a:t>
            </a:r>
          </a:p>
          <a:p>
            <a:r>
              <a:rPr sz="1200">
                <a:solidFill>
                  <a:srgbClr val="101010"/>
                </a:solidFill>
                <a:latin typeface="DejaVu Sans Mono"/>
              </a:rPr>
              <a:t>$ rm -f /tmp/dump_lib.txt</a:t>
            </a:r>
          </a:p>
          <a:p>
            <a:r>
              <a:rPr sz="1200">
                <a:solidFill>
                  <a:srgbClr val="101010"/>
                </a:solidFill>
                <a:latin typeface="DejaVu Sans Mono"/>
              </a:rPr>
              <a:t>$ TR_DUMP_STATE=/tmp/dump_lib.txt python3 -c "</a:t>
            </a:r>
          </a:p>
          <a:p>
            <a:r>
              <a:rPr sz="1200">
                <a:solidFill>
                  <a:srgbClr val="101010"/>
                </a:solidFill>
                <a:latin typeface="DejaVu Sans Mono"/>
              </a:rPr>
              <a:t>import os, sys; sys.path.insert(0, 'python')</a:t>
            </a:r>
          </a:p>
          <a:p>
            <a:r>
              <a:rPr sz="1200">
                <a:solidFill>
                  <a:srgbClr val="101010"/>
                </a:solidFill>
                <a:latin typeface="DejaVu Sans Mono"/>
              </a:rPr>
              <a:t>from trlib import Trlib</a:t>
            </a:r>
          </a:p>
          <a:p>
            <a:r>
              <a:rPr sz="1200">
                <a:solidFill>
                  <a:srgbClr val="101010"/>
                </a:solidFill>
                <a:latin typeface="DejaVu Sans Mono"/>
              </a:rPr>
              <a:t>from trlib.tests.fixtures import tr_tst2_params as f</a:t>
            </a:r>
          </a:p>
          <a:p>
            <a:r>
              <a:rPr sz="1200">
                <a:solidFill>
                  <a:srgbClr val="101010"/>
                </a:solidFill>
                <a:latin typeface="DejaVu Sans Mono"/>
              </a:rPr>
              <a:t>os.chdir('test_run/test_output/tr_tst2')</a:t>
            </a:r>
          </a:p>
          <a:p>
            <a:r>
              <a:rPr sz="1200">
                <a:solidFill>
                  <a:srgbClr val="101010"/>
                </a:solidFill>
                <a:latin typeface="DejaVu Sans Mono"/>
              </a:rPr>
              <a:t>with Trlib() as tr:</a:t>
            </a:r>
          </a:p>
          <a:p>
            <a:r>
              <a:rPr sz="1200">
                <a:solidFill>
                  <a:srgbClr val="101010"/>
                </a:solidFill>
                <a:latin typeface="DejaVu Sans Mono"/>
              </a:rPr>
              <a:t>    f.apply(tr); tr.run(0)</a:t>
            </a:r>
          </a:p>
          <a:p>
            <a:r>
              <a:rPr sz="1200">
                <a:solidFill>
                  <a:srgbClr val="101010"/>
                </a:solidFill>
                <a:latin typeface="DejaVu Sans Mono"/>
              </a:rPr>
              <a:t>"</a:t>
            </a:r>
          </a:p>
          <a:p>
            <a:r>
              <a:rPr sz="1200">
                <a:solidFill>
                  <a:srgbClr val="101010"/>
                </a:solidFill>
                <a:latin typeface="DejaVu Sans Mono"/>
              </a:rPr>
              <a:t> </a:t>
            </a:r>
          </a:p>
          <a:p>
            <a:r>
              <a:rPr sz="1200">
                <a:solidFill>
                  <a:srgbClr val="101010"/>
                </a:solidFill>
                <a:latin typeface="DejaVu Sans Mono"/>
              </a:rPr>
              <a:t># 3. 差分を見る</a:t>
            </a:r>
          </a:p>
          <a:p>
            <a:r>
              <a:rPr sz="1200">
                <a:solidFill>
                  <a:srgbClr val="101010"/>
                </a:solidFill>
                <a:latin typeface="DejaVu Sans Mono"/>
              </a:rPr>
              <a:t>$ diff /tmp/dump_bin.txt /tmp/dump_lib.txt | head -60</a:t>
            </a:r>
          </a:p>
          <a:p>
            <a:r>
              <a:rPr sz="1200">
                <a:solidFill>
                  <a:srgbClr val="101010"/>
                </a:solidFill>
                <a:latin typeface="DejaVu Sans Mono"/>
              </a:rPr>
              <a:t> </a:t>
            </a:r>
          </a:p>
        </p:txBody>
      </p:sp>
      <p:sp>
        <p:nvSpPr>
          <p:cNvPr id="6" name="TextBox 5"/>
          <p:cNvSpPr txBox="1"/>
          <p:nvPr/>
        </p:nvSpPr>
        <p:spPr>
          <a:xfrm>
            <a:off x="8229600" y="1188720"/>
            <a:ext cx="3566160" cy="4937760"/>
          </a:xfrm>
          <a:prstGeom prst="rect">
            <a:avLst/>
          </a:prstGeom>
          <a:noFill/>
        </p:spPr>
        <p:txBody>
          <a:bodyPr wrap="square" lIns="36000" rIns="36000" tIns="18000" bIns="18000">
            <a:spAutoFit/>
          </a:bodyPr>
          <a:lstStyle/>
          <a:p>
            <a:pPr algn="l">
              <a:spcAft>
                <a:spcPts val="600"/>
              </a:spcAft>
            </a:pPr>
            <a:r>
              <a:rPr sz="1200">
                <a:solidFill>
                  <a:srgbClr val="101010"/>
                </a:solidFill>
                <a:latin typeface="Noto Sans CJK JP"/>
              </a:rPr>
              <a:t>・ 実装: tr/tr_dump_state.f90。</a:t>
            </a:r>
          </a:p>
          <a:p>
            <a:pPr algn="l">
              <a:spcAft>
                <a:spcPts val="600"/>
              </a:spcAft>
            </a:pPr>
            <a:r>
              <a:rPr sz="1200">
                <a:solidFill>
                  <a:srgbClr val="101010"/>
                </a:solidFill>
                <a:latin typeface="Noto Sans CJK JP"/>
              </a:rPr>
              <a:t>・ env 未設定なら no-op (本番ゼロコスト)。</a:t>
            </a:r>
          </a:p>
          <a:p>
            <a:pPr algn="l">
              <a:spcAft>
                <a:spcPts val="600"/>
              </a:spcAft>
            </a:pPr>
            <a:r>
              <a:rPr sz="1200">
                <a:solidFill>
                  <a:srgbClr val="101010"/>
                </a:solidFill>
                <a:latin typeface="Noto Sans CJK JP"/>
              </a:rPr>
              <a:t>・ binary / library で同じ tr_prep 末尾でフック。</a:t>
            </a:r>
          </a:p>
          <a:p>
            <a:pPr algn="l">
              <a:spcAft>
                <a:spcPts val="600"/>
              </a:spcAft>
            </a:pPr>
            <a:r>
              <a:rPr sz="1200">
                <a:solidFill>
                  <a:srgbClr val="101010"/>
                </a:solidFill>
                <a:latin typeface="Noto Sans CJK JP"/>
              </a:rPr>
              <a:t>・ ヒープゴミ値 (1e-307 等) → uninit 配列。</a:t>
            </a:r>
          </a:p>
          <a:p>
            <a:pPr algn="l">
              <a:spcAft>
                <a:spcPts val="600"/>
              </a:spcAft>
            </a:pPr>
            <a:r>
              <a:rPr sz="1200">
                <a:solidFill>
                  <a:srgbClr val="101010"/>
                </a:solidFill>
                <a:latin typeface="Noto Sans CJK JP"/>
              </a:rPr>
              <a:t>・ 微小 ULP 差 → 数値ドリフト。</a:t>
            </a:r>
          </a:p>
          <a:p>
            <a:pPr algn="l">
              <a:spcAft>
                <a:spcPts val="600"/>
              </a:spcAft>
            </a:pPr>
            <a:r>
              <a:rPr sz="1200">
                <a:solidFill>
                  <a:srgbClr val="101010"/>
                </a:solidFill>
                <a:latin typeface="Noto Sans CJK JP"/>
              </a:rPr>
              <a:t>・ 片方ゼロ片方ゴミ → uninit + ヒープ偶然。</a:t>
            </a:r>
          </a:p>
          <a:p>
            <a:pPr algn="l">
              <a:spcAft>
                <a:spcPts val="600"/>
              </a:spcAft>
            </a:pPr>
            <a:r>
              <a:rPr sz="1200">
                <a:solidFill>
                  <a:srgbClr val="101010"/>
                </a:solidFill>
                <a:latin typeface="Noto Sans CJK JP"/>
              </a:rPr>
              <a:t>・ 詳細: feedback_dump_diff_approach.md。</a:t>
            </a:r>
          </a:p>
        </p:txBody>
      </p:sp>
      <p:sp>
        <p:nvSpPr>
          <p:cNvPr id="7" name="TextBox 6"/>
          <p:cNvSpPr txBox="1"/>
          <p:nvPr/>
        </p:nvSpPr>
        <p:spPr>
          <a:xfrm>
            <a:off x="365760" y="6263640"/>
            <a:ext cx="11430000" cy="457200"/>
          </a:xfrm>
          <a:prstGeom prst="rect">
            <a:avLst/>
          </a:prstGeom>
          <a:noFill/>
        </p:spPr>
        <p:txBody>
          <a:bodyPr wrap="square" lIns="36000" rIns="36000" tIns="18000" bIns="18000" anchor="t">
            <a:spAutoFit/>
          </a:bodyPr>
          <a:lstStyle/>
          <a:p>
            <a:pPr algn="l"/>
            <a:r>
              <a:rPr sz="1100" b="0">
                <a:solidFill>
                  <a:srgbClr val="555555"/>
                </a:solidFill>
                <a:latin typeface="Noto Sans CJK JP"/>
              </a:rPr>
              <a:t>実例: PNSS / PTSA 未初期化バグはこの方法で 1 発で局所化 (2026-04-20)。新規モジュールに横展開する場合は &lt;MOD&gt;_DUMP_STATE 環境変数で同じパターンを採用してください。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他モジュールへの拡張</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trlib と同じ API パターンで全モジュールが利用可能</a:t>
            </a:r>
          </a:p>
        </p:txBody>
      </p:sp>
      <p:graphicFrame>
        <p:nvGraphicFramePr>
          <p:cNvPr id="5" name="Table 4"/>
          <p:cNvGraphicFramePr>
            <a:graphicFrameLocks noGrp="1"/>
          </p:cNvGraphicFramePr>
          <p:nvPr/>
        </p:nvGraphicFramePr>
        <p:xfrm>
          <a:off x="365760" y="1188720"/>
          <a:ext cx="11430000" cy="3291840"/>
        </p:xfrm>
        <a:graphic>
          <a:graphicData uri="http://schemas.openxmlformats.org/drawingml/2006/table">
            <a:tbl>
              <a:tblPr firstRow="1" bandRow="1">
                <a:tableStyleId>{5C22544A-7EE6-4342-B048-85BDC9FD1C3A}</a:tableStyleId>
              </a:tblPr>
              <a:tblGrid>
                <a:gridCol w="2857500"/>
                <a:gridCol w="2857500"/>
                <a:gridCol w="2857500"/>
                <a:gridCol w="2857500"/>
              </a:tblGrid>
              <a:tr h="411480">
                <a:tc>
                  <a:txBody>
                    <a:bodyPr wrap="square"/>
                    <a:lstStyle/>
                    <a:p>
                      <a:pPr algn="l"/>
                      <a:r>
                        <a:rPr sz="1300" b="1">
                          <a:solidFill>
                            <a:srgbClr val="FFFFFF"/>
                          </a:solidFill>
                          <a:latin typeface="Noto Sans CJK JP"/>
                        </a:rPr>
                        <a:t>モジュール</a:t>
                      </a:r>
                    </a:p>
                  </a:txBody>
                  <a:tcPr>
                    <a:solidFill>
                      <a:srgbClr val="0D47A1"/>
                    </a:solidFill>
                  </a:tcPr>
                </a:tc>
                <a:tc>
                  <a:txBody>
                    <a:bodyPr wrap="square"/>
                    <a:lstStyle/>
                    <a:p>
                      <a:pPr algn="l"/>
                      <a:r>
                        <a:rPr sz="1300" b="1">
                          <a:solidFill>
                            <a:srgbClr val="FFFFFF"/>
                          </a:solidFill>
                          <a:latin typeface="Noto Sans CJK JP"/>
                        </a:rPr>
                        <a:t>Python パッケージ</a:t>
                      </a:r>
                    </a:p>
                  </a:txBody>
                  <a:tcPr>
                    <a:solidFill>
                      <a:srgbClr val="0D47A1"/>
                    </a:solidFill>
                  </a:tcPr>
                </a:tc>
                <a:tc>
                  <a:txBody>
                    <a:bodyPr wrap="square"/>
                    <a:lstStyle/>
                    <a:p>
                      <a:pPr algn="l"/>
                      <a:r>
                        <a:rPr sz="1300" b="1">
                          <a:solidFill>
                            <a:srgbClr val="FFFFFF"/>
                          </a:solidFill>
                          <a:latin typeface="Noto Sans CJK JP"/>
                        </a:rPr>
                        <a:t>クラス</a:t>
                      </a:r>
                    </a:p>
                  </a:txBody>
                  <a:tcPr>
                    <a:solidFill>
                      <a:srgbClr val="0D47A1"/>
                    </a:solidFill>
                  </a:tcPr>
                </a:tc>
                <a:tc>
                  <a:txBody>
                    <a:bodyPr wrap="square"/>
                    <a:lstStyle/>
                    <a:p>
                      <a:pPr algn="l"/>
                      <a:r>
                        <a:rPr sz="1300" b="1">
                          <a:solidFill>
                            <a:srgbClr val="FFFFFF"/>
                          </a:solidFill>
                          <a:latin typeface="Noto Sans CJK JP"/>
                        </a:rPr>
                        <a:t>役割</a:t>
                      </a:r>
                    </a:p>
                  </a:txBody>
                  <a:tcPr>
                    <a:solidFill>
                      <a:srgbClr val="0D47A1"/>
                    </a:solidFill>
                  </a:tcPr>
                </a:tc>
              </a:tr>
              <a:tr h="411480">
                <a:tc>
                  <a:txBody>
                    <a:bodyPr wrap="square"/>
                    <a:lstStyle/>
                    <a:p>
                      <a:pPr algn="l"/>
                      <a:r>
                        <a:rPr sz="1300">
                          <a:solidFill>
                            <a:srgbClr val="101010"/>
                          </a:solidFill>
                          <a:latin typeface="Noto Sans CJK JP"/>
                        </a:rPr>
                        <a:t>tr</a:t>
                      </a:r>
                    </a:p>
                  </a:txBody>
                  <a:tcPr>
                    <a:solidFill>
                      <a:srgbClr val="FFFFFF"/>
                    </a:solidFill>
                  </a:tcPr>
                </a:tc>
                <a:tc>
                  <a:txBody>
                    <a:bodyPr wrap="square"/>
                    <a:lstStyle/>
                    <a:p>
                      <a:pPr algn="l"/>
                      <a:r>
                        <a:rPr sz="1300">
                          <a:solidFill>
                            <a:srgbClr val="101010"/>
                          </a:solidFill>
                          <a:latin typeface="Noto Sans CJK JP"/>
                        </a:rPr>
                        <a:t>python/trlib</a:t>
                      </a:r>
                    </a:p>
                  </a:txBody>
                  <a:tcPr>
                    <a:solidFill>
                      <a:srgbClr val="FFFFFF"/>
                    </a:solidFill>
                  </a:tcPr>
                </a:tc>
                <a:tc>
                  <a:txBody>
                    <a:bodyPr wrap="square"/>
                    <a:lstStyle/>
                    <a:p>
                      <a:pPr algn="l"/>
                      <a:r>
                        <a:rPr sz="1300">
                          <a:solidFill>
                            <a:srgbClr val="101010"/>
                          </a:solidFill>
                          <a:latin typeface="Noto Sans CJK JP"/>
                        </a:rPr>
                        <a:t>Trlib</a:t>
                      </a:r>
                    </a:p>
                  </a:txBody>
                  <a:tcPr>
                    <a:solidFill>
                      <a:srgbClr val="FFFFFF"/>
                    </a:solidFill>
                  </a:tcPr>
                </a:tc>
                <a:tc>
                  <a:txBody>
                    <a:bodyPr wrap="square"/>
                    <a:lstStyle/>
                    <a:p>
                      <a:pPr algn="l"/>
                      <a:r>
                        <a:rPr sz="1300">
                          <a:solidFill>
                            <a:srgbClr val="101010"/>
                          </a:solidFill>
                          <a:latin typeface="Noto Sans CJK JP"/>
                        </a:rPr>
                        <a:t>1 次元プラズマ輸送 (本日の主役)</a:t>
                      </a:r>
                    </a:p>
                  </a:txBody>
                  <a:tcPr>
                    <a:solidFill>
                      <a:srgbClr val="FFFFFF"/>
                    </a:solidFill>
                  </a:tcPr>
                </a:tc>
              </a:tr>
              <a:tr h="411480">
                <a:tc>
                  <a:txBody>
                    <a:bodyPr wrap="square"/>
                    <a:lstStyle/>
                    <a:p>
                      <a:pPr algn="l"/>
                      <a:r>
                        <a:rPr sz="1300">
                          <a:solidFill>
                            <a:srgbClr val="101010"/>
                          </a:solidFill>
                          <a:latin typeface="Noto Sans CJK JP"/>
                        </a:rPr>
                        <a:t>fp</a:t>
                      </a:r>
                    </a:p>
                  </a:txBody>
                  <a:tcPr>
                    <a:solidFill>
                      <a:srgbClr val="EEEEEE"/>
                    </a:solidFill>
                  </a:tcPr>
                </a:tc>
                <a:tc>
                  <a:txBody>
                    <a:bodyPr wrap="square"/>
                    <a:lstStyle/>
                    <a:p>
                      <a:pPr algn="l"/>
                      <a:r>
                        <a:rPr sz="1300">
                          <a:solidFill>
                            <a:srgbClr val="101010"/>
                          </a:solidFill>
                          <a:latin typeface="Noto Sans CJK JP"/>
                        </a:rPr>
                        <a:t>python/fplib</a:t>
                      </a:r>
                    </a:p>
                  </a:txBody>
                  <a:tcPr>
                    <a:solidFill>
                      <a:srgbClr val="EEEEEE"/>
                    </a:solidFill>
                  </a:tcPr>
                </a:tc>
                <a:tc>
                  <a:txBody>
                    <a:bodyPr wrap="square"/>
                    <a:lstStyle/>
                    <a:p>
                      <a:pPr algn="l"/>
                      <a:r>
                        <a:rPr sz="1300">
                          <a:solidFill>
                            <a:srgbClr val="101010"/>
                          </a:solidFill>
                          <a:latin typeface="Noto Sans CJK JP"/>
                        </a:rPr>
                        <a:t>Fplib</a:t>
                      </a:r>
                    </a:p>
                  </a:txBody>
                  <a:tcPr>
                    <a:solidFill>
                      <a:srgbClr val="EEEEEE"/>
                    </a:solidFill>
                  </a:tcPr>
                </a:tc>
                <a:tc>
                  <a:txBody>
                    <a:bodyPr wrap="square"/>
                    <a:lstStyle/>
                    <a:p>
                      <a:pPr algn="l"/>
                      <a:r>
                        <a:rPr sz="1300">
                          <a:solidFill>
                            <a:srgbClr val="101010"/>
                          </a:solidFill>
                          <a:latin typeface="Noto Sans CJK JP"/>
                        </a:rPr>
                        <a:t>Fokker-Planck 解析</a:t>
                      </a:r>
                    </a:p>
                  </a:txBody>
                  <a:tcPr>
                    <a:solidFill>
                      <a:srgbClr val="EEEEEE"/>
                    </a:solidFill>
                  </a:tcPr>
                </a:tc>
              </a:tr>
              <a:tr h="411480">
                <a:tc>
                  <a:txBody>
                    <a:bodyPr wrap="square"/>
                    <a:lstStyle/>
                    <a:p>
                      <a:pPr algn="l"/>
                      <a:r>
                        <a:rPr sz="1300">
                          <a:solidFill>
                            <a:srgbClr val="101010"/>
                          </a:solidFill>
                          <a:latin typeface="Noto Sans CJK JP"/>
                        </a:rPr>
                        <a:t>ti</a:t>
                      </a:r>
                    </a:p>
                  </a:txBody>
                  <a:tcPr>
                    <a:solidFill>
                      <a:srgbClr val="FFFFFF"/>
                    </a:solidFill>
                  </a:tcPr>
                </a:tc>
                <a:tc>
                  <a:txBody>
                    <a:bodyPr wrap="square"/>
                    <a:lstStyle/>
                    <a:p>
                      <a:pPr algn="l"/>
                      <a:r>
                        <a:rPr sz="1300">
                          <a:solidFill>
                            <a:srgbClr val="101010"/>
                          </a:solidFill>
                          <a:latin typeface="Noto Sans CJK JP"/>
                        </a:rPr>
                        <a:t>python/tilib</a:t>
                      </a:r>
                    </a:p>
                  </a:txBody>
                  <a:tcPr>
                    <a:solidFill>
                      <a:srgbClr val="FFFFFF"/>
                    </a:solidFill>
                  </a:tcPr>
                </a:tc>
                <a:tc>
                  <a:txBody>
                    <a:bodyPr wrap="square"/>
                    <a:lstStyle/>
                    <a:p>
                      <a:pPr algn="l"/>
                      <a:r>
                        <a:rPr sz="1300">
                          <a:solidFill>
                            <a:srgbClr val="101010"/>
                          </a:solidFill>
                          <a:latin typeface="Noto Sans CJK JP"/>
                        </a:rPr>
                        <a:t>Tilib</a:t>
                      </a:r>
                    </a:p>
                  </a:txBody>
                  <a:tcPr>
                    <a:solidFill>
                      <a:srgbClr val="FFFFFF"/>
                    </a:solidFill>
                  </a:tcPr>
                </a:tc>
                <a:tc>
                  <a:txBody>
                    <a:bodyPr wrap="square"/>
                    <a:lstStyle/>
                    <a:p>
                      <a:pPr algn="l"/>
                      <a:r>
                        <a:rPr sz="1300">
                          <a:solidFill>
                            <a:srgbClr val="101010"/>
                          </a:solidFill>
                          <a:latin typeface="Noto Sans CJK JP"/>
                        </a:rPr>
                        <a:t>不純物輸送</a:t>
                      </a:r>
                    </a:p>
                  </a:txBody>
                  <a:tcPr>
                    <a:solidFill>
                      <a:srgbClr val="FFFFFF"/>
                    </a:solidFill>
                  </a:tcPr>
                </a:tc>
              </a:tr>
              <a:tr h="411480">
                <a:tc>
                  <a:txBody>
                    <a:bodyPr wrap="square"/>
                    <a:lstStyle/>
                    <a:p>
                      <a:pPr algn="l"/>
                      <a:r>
                        <a:rPr sz="1300">
                          <a:solidFill>
                            <a:srgbClr val="101010"/>
                          </a:solidFill>
                          <a:latin typeface="Noto Sans CJK JP"/>
                        </a:rPr>
                        <a:t>wr</a:t>
                      </a:r>
                    </a:p>
                  </a:txBody>
                  <a:tcPr>
                    <a:solidFill>
                      <a:srgbClr val="EEEEEE"/>
                    </a:solidFill>
                  </a:tcPr>
                </a:tc>
                <a:tc>
                  <a:txBody>
                    <a:bodyPr wrap="square"/>
                    <a:lstStyle/>
                    <a:p>
                      <a:pPr algn="l"/>
                      <a:r>
                        <a:rPr sz="1300">
                          <a:solidFill>
                            <a:srgbClr val="101010"/>
                          </a:solidFill>
                          <a:latin typeface="Noto Sans CJK JP"/>
                        </a:rPr>
                        <a:t>python/wrlib</a:t>
                      </a:r>
                    </a:p>
                  </a:txBody>
                  <a:tcPr>
                    <a:solidFill>
                      <a:srgbClr val="EEEEEE"/>
                    </a:solidFill>
                  </a:tcPr>
                </a:tc>
                <a:tc>
                  <a:txBody>
                    <a:bodyPr wrap="square"/>
                    <a:lstStyle/>
                    <a:p>
                      <a:pPr algn="l"/>
                      <a:r>
                        <a:rPr sz="1300">
                          <a:solidFill>
                            <a:srgbClr val="101010"/>
                          </a:solidFill>
                          <a:latin typeface="Noto Sans CJK JP"/>
                        </a:rPr>
                        <a:t>Wrlib</a:t>
                      </a:r>
                    </a:p>
                  </a:txBody>
                  <a:tcPr>
                    <a:solidFill>
                      <a:srgbClr val="EEEEEE"/>
                    </a:solidFill>
                  </a:tcPr>
                </a:tc>
                <a:tc>
                  <a:txBody>
                    <a:bodyPr wrap="square"/>
                    <a:lstStyle/>
                    <a:p>
                      <a:pPr algn="l"/>
                      <a:r>
                        <a:rPr sz="1300">
                          <a:solidFill>
                            <a:srgbClr val="101010"/>
                          </a:solidFill>
                          <a:latin typeface="Noto Sans CJK JP"/>
                        </a:rPr>
                        <a:t>波動レイトレーシング</a:t>
                      </a:r>
                    </a:p>
                  </a:txBody>
                  <a:tcPr>
                    <a:solidFill>
                      <a:srgbClr val="EEEEEE"/>
                    </a:solidFill>
                  </a:tcPr>
                </a:tc>
              </a:tr>
              <a:tr h="411480">
                <a:tc>
                  <a:txBody>
                    <a:bodyPr wrap="square"/>
                    <a:lstStyle/>
                    <a:p>
                      <a:pPr algn="l"/>
                      <a:r>
                        <a:rPr sz="1300">
                          <a:solidFill>
                            <a:srgbClr val="101010"/>
                          </a:solidFill>
                          <a:latin typeface="Noto Sans CJK JP"/>
                        </a:rPr>
                        <a:t>wrx</a:t>
                      </a:r>
                    </a:p>
                  </a:txBody>
                  <a:tcPr>
                    <a:solidFill>
                      <a:srgbClr val="FFFFFF"/>
                    </a:solidFill>
                  </a:tcPr>
                </a:tc>
                <a:tc>
                  <a:txBody>
                    <a:bodyPr wrap="square"/>
                    <a:lstStyle/>
                    <a:p>
                      <a:pPr algn="l"/>
                      <a:r>
                        <a:rPr sz="1300">
                          <a:solidFill>
                            <a:srgbClr val="101010"/>
                          </a:solidFill>
                          <a:latin typeface="Noto Sans CJK JP"/>
                        </a:rPr>
                        <a:t>python/wrxlib</a:t>
                      </a:r>
                    </a:p>
                  </a:txBody>
                  <a:tcPr>
                    <a:solidFill>
                      <a:srgbClr val="FFFFFF"/>
                    </a:solidFill>
                  </a:tcPr>
                </a:tc>
                <a:tc>
                  <a:txBody>
                    <a:bodyPr wrap="square"/>
                    <a:lstStyle/>
                    <a:p>
                      <a:pPr algn="l"/>
                      <a:r>
                        <a:rPr sz="1300">
                          <a:solidFill>
                            <a:srgbClr val="101010"/>
                          </a:solidFill>
                          <a:latin typeface="Noto Sans CJK JP"/>
                        </a:rPr>
                        <a:t>Wrxlib</a:t>
                      </a:r>
                    </a:p>
                  </a:txBody>
                  <a:tcPr>
                    <a:solidFill>
                      <a:srgbClr val="FFFFFF"/>
                    </a:solidFill>
                  </a:tcPr>
                </a:tc>
                <a:tc>
                  <a:txBody>
                    <a:bodyPr wrap="square"/>
                    <a:lstStyle/>
                    <a:p>
                      <a:pPr algn="l"/>
                      <a:r>
                        <a:rPr sz="1300">
                          <a:solidFill>
                            <a:srgbClr val="101010"/>
                          </a:solidFill>
                          <a:latin typeface="Noto Sans CJK JP"/>
                        </a:rPr>
                        <a:t>拡張レイトレーシング</a:t>
                      </a:r>
                    </a:p>
                  </a:txBody>
                  <a:tcPr>
                    <a:solidFill>
                      <a:srgbClr val="FFFFFF"/>
                    </a:solidFill>
                  </a:tcPr>
                </a:tc>
              </a:tr>
              <a:tr h="411480">
                <a:tc>
                  <a:txBody>
                    <a:bodyPr wrap="square"/>
                    <a:lstStyle/>
                    <a:p>
                      <a:pPr algn="l"/>
                      <a:r>
                        <a:rPr sz="1300">
                          <a:solidFill>
                            <a:srgbClr val="101010"/>
                          </a:solidFill>
                          <a:latin typeface="Noto Sans CJK JP"/>
                        </a:rPr>
                        <a:t>eq</a:t>
                      </a:r>
                    </a:p>
                  </a:txBody>
                  <a:tcPr>
                    <a:solidFill>
                      <a:srgbClr val="EEEEEE"/>
                    </a:solidFill>
                  </a:tcPr>
                </a:tc>
                <a:tc>
                  <a:txBody>
                    <a:bodyPr wrap="square"/>
                    <a:lstStyle/>
                    <a:p>
                      <a:pPr algn="l"/>
                      <a:r>
                        <a:rPr sz="1300">
                          <a:solidFill>
                            <a:srgbClr val="101010"/>
                          </a:solidFill>
                          <a:latin typeface="Noto Sans CJK JP"/>
                        </a:rPr>
                        <a:t>python/eqlib</a:t>
                      </a:r>
                    </a:p>
                  </a:txBody>
                  <a:tcPr>
                    <a:solidFill>
                      <a:srgbClr val="EEEEEE"/>
                    </a:solidFill>
                  </a:tcPr>
                </a:tc>
                <a:tc>
                  <a:txBody>
                    <a:bodyPr wrap="square"/>
                    <a:lstStyle/>
                    <a:p>
                      <a:pPr algn="l"/>
                      <a:r>
                        <a:rPr sz="1300">
                          <a:solidFill>
                            <a:srgbClr val="101010"/>
                          </a:solidFill>
                          <a:latin typeface="Noto Sans CJK JP"/>
                        </a:rPr>
                        <a:t>Eqlib</a:t>
                      </a:r>
                    </a:p>
                  </a:txBody>
                  <a:tcPr>
                    <a:solidFill>
                      <a:srgbClr val="EEEEEE"/>
                    </a:solidFill>
                  </a:tcPr>
                </a:tc>
                <a:tc>
                  <a:txBody>
                    <a:bodyPr wrap="square"/>
                    <a:lstStyle/>
                    <a:p>
                      <a:pPr algn="l"/>
                      <a:r>
                        <a:rPr sz="1300">
                          <a:solidFill>
                            <a:srgbClr val="101010"/>
                          </a:solidFill>
                          <a:latin typeface="Noto Sans CJK JP"/>
                        </a:rPr>
                        <a:t>MHD 平衡</a:t>
                      </a:r>
                    </a:p>
                  </a:txBody>
                  <a:tcPr>
                    <a:solidFill>
                      <a:srgbClr val="EEEEEE"/>
                    </a:solidFill>
                  </a:tcPr>
                </a:tc>
              </a:tr>
              <a:tr h="411480">
                <a:tc>
                  <a:txBody>
                    <a:bodyPr wrap="square"/>
                    <a:lstStyle/>
                    <a:p>
                      <a:pPr algn="l"/>
                      <a:r>
                        <a:rPr sz="1300">
                          <a:solidFill>
                            <a:srgbClr val="101010"/>
                          </a:solidFill>
                          <a:latin typeface="Noto Sans CJK JP"/>
                        </a:rPr>
                        <a:t>tot</a:t>
                      </a:r>
                    </a:p>
                  </a:txBody>
                  <a:tcPr>
                    <a:solidFill>
                      <a:srgbClr val="FFFFFF"/>
                    </a:solidFill>
                  </a:tcPr>
                </a:tc>
                <a:tc>
                  <a:txBody>
                    <a:bodyPr wrap="square"/>
                    <a:lstStyle/>
                    <a:p>
                      <a:pPr algn="l"/>
                      <a:r>
                        <a:rPr sz="1300">
                          <a:solidFill>
                            <a:srgbClr val="101010"/>
                          </a:solidFill>
                          <a:latin typeface="Noto Sans CJK JP"/>
                        </a:rPr>
                        <a:t>python/totlib</a:t>
                      </a:r>
                    </a:p>
                  </a:txBody>
                  <a:tcPr>
                    <a:solidFill>
                      <a:srgbClr val="FFFFFF"/>
                    </a:solidFill>
                  </a:tcPr>
                </a:tc>
                <a:tc>
                  <a:txBody>
                    <a:bodyPr wrap="square"/>
                    <a:lstStyle/>
                    <a:p>
                      <a:pPr algn="l"/>
                      <a:r>
                        <a:rPr sz="1300">
                          <a:solidFill>
                            <a:srgbClr val="101010"/>
                          </a:solidFill>
                          <a:latin typeface="Noto Sans CJK JP"/>
                        </a:rPr>
                        <a:t>Totlib</a:t>
                      </a:r>
                    </a:p>
                  </a:txBody>
                  <a:tcPr>
                    <a:solidFill>
                      <a:srgbClr val="FFFFFF"/>
                    </a:solidFill>
                  </a:tcPr>
                </a:tc>
                <a:tc>
                  <a:txBody>
                    <a:bodyPr wrap="square"/>
                    <a:lstStyle/>
                    <a:p>
                      <a:pPr algn="l"/>
                      <a:r>
                        <a:rPr sz="1300">
                          <a:solidFill>
                            <a:srgbClr val="101010"/>
                          </a:solidFill>
                          <a:latin typeface="Noto Sans CJK JP"/>
                        </a:rPr>
                        <a:t>統合輸送 (他モジュール束ね)</a:t>
                      </a:r>
                    </a:p>
                  </a:txBody>
                  <a:tcPr>
                    <a:solidFill>
                      <a:srgbClr val="FFFFFF"/>
                    </a:solidFill>
                  </a:tcPr>
                </a:tc>
              </a:tr>
            </a:tbl>
          </a:graphicData>
        </a:graphic>
      </p:graphicFrame>
      <p:sp>
        <p:nvSpPr>
          <p:cNvPr id="6" name="TextBox 5"/>
          <p:cNvSpPr txBox="1"/>
          <p:nvPr/>
        </p:nvSpPr>
        <p:spPr>
          <a:xfrm>
            <a:off x="365760" y="4663440"/>
            <a:ext cx="11430000" cy="182880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全モジュールが with X() as h: → set_param → run → get_state という同一パターン。</a:t>
            </a:r>
          </a:p>
          <a:p>
            <a:pPr algn="l">
              <a:spcAft>
                <a:spcPts val="600"/>
              </a:spcAft>
            </a:pPr>
            <a:r>
              <a:rPr sz="1300">
                <a:solidFill>
                  <a:srgbClr val="101010"/>
                </a:solidFill>
                <a:latin typeface="Noto Sans CJK JP"/>
              </a:rPr>
              <a:t>・ fixture 規約も共通: SCALARS / ARRAYS / STRINGS の 3 辞書 + apply(h) 関数。</a:t>
            </a:r>
          </a:p>
          <a:p>
            <a:pPr algn="l">
              <a:spcAft>
                <a:spcPts val="600"/>
              </a:spcAft>
            </a:pPr>
            <a:r>
              <a:rPr sz="1300">
                <a:solidFill>
                  <a:srgbClr val="101010"/>
                </a:solidFill>
                <a:latin typeface="Noto Sans CJK JP"/>
              </a:rPr>
              <a:t>・ tot は他モジュールを namespace prefix で束ねる (例: 'eq:RR' が eq モジュールの RR)。</a:t>
            </a:r>
          </a:p>
          <a:p>
            <a:pPr algn="l">
              <a:spcAft>
                <a:spcPts val="600"/>
              </a:spcAft>
            </a:pPr>
            <a:r>
              <a:rPr sz="1300">
                <a:solidFill>
                  <a:srgbClr val="101010"/>
                </a:solidFill>
                <a:latin typeface="Noto Sans CJK JP"/>
              </a:rPr>
              <a:t>・ Layer 1 等価性、Layer 4 スイープテストも全モジュールで整備済み。</a:t>
            </a:r>
          </a:p>
          <a:p>
            <a:pPr algn="l">
              <a:spcAft>
                <a:spcPts val="600"/>
              </a:spcAft>
            </a:pPr>
            <a:r>
              <a:rPr sz="1300">
                <a:solidFill>
                  <a:srgbClr val="101010"/>
                </a:solidFill>
                <a:latin typeface="Noto Sans CJK JP"/>
              </a:rPr>
              <a:t>・ MCP server (各モジュール 9 ツール) も同じ API の上に構築されている。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tr_mcp サーバ概要</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LLM (Claude / Cursor) から JSON-RPC で trlib を駆動</a:t>
            </a:r>
          </a:p>
        </p:txBody>
      </p:sp>
      <p:sp>
        <p:nvSpPr>
          <p:cNvPr id="5" name="Rounded Rectangle 4"/>
          <p:cNvSpPr/>
          <p:nvPr/>
        </p:nvSpPr>
        <p:spPr>
          <a:xfrm>
            <a:off x="365760" y="1920240"/>
            <a:ext cx="2468880" cy="13716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LLM クライアント</a:t>
            </a:r>
          </a:p>
          <a:p>
            <a:pPr algn="ctr"/>
            <a:r>
              <a:rPr sz="1100">
                <a:solidFill>
                  <a:srgbClr val="FFFFFF"/>
                </a:solidFill>
                <a:latin typeface="Noto Sans CJK JP"/>
              </a:rPr>
              <a:t>Claude Desktop</a:t>
            </a:r>
          </a:p>
          <a:p>
            <a:pPr algn="ctr"/>
            <a:r>
              <a:rPr sz="1100">
                <a:solidFill>
                  <a:srgbClr val="FFFFFF"/>
                </a:solidFill>
                <a:latin typeface="Noto Sans CJK JP"/>
              </a:rPr>
              <a:t>Claude Code / Cursor</a:t>
            </a:r>
          </a:p>
        </p:txBody>
      </p:sp>
      <p:sp>
        <p:nvSpPr>
          <p:cNvPr id="6" name="Rounded Rectangle 5"/>
          <p:cNvSpPr/>
          <p:nvPr/>
        </p:nvSpPr>
        <p:spPr>
          <a:xfrm>
            <a:off x="3200400" y="1920240"/>
            <a:ext cx="2468880" cy="137160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tr_mcp サーバ</a:t>
            </a:r>
          </a:p>
          <a:p>
            <a:pPr algn="ctr"/>
            <a:r>
              <a:rPr sz="1000">
                <a:solidFill>
                  <a:srgbClr val="FFFFFF"/>
                </a:solidFill>
                <a:latin typeface="Noto Sans CJK JP"/>
              </a:rPr>
              <a:t>FastMCP (stdio)</a:t>
            </a:r>
          </a:p>
          <a:p>
            <a:pPr algn="ctr"/>
            <a:r>
              <a:rPr sz="1000">
                <a:solidFill>
                  <a:srgbClr val="FFFFFF"/>
                </a:solidFill>
                <a:latin typeface="Noto Sans CJK JP"/>
              </a:rPr>
              <a:t>python/mcp-servers/</a:t>
            </a:r>
          </a:p>
          <a:p>
            <a:pPr algn="ctr"/>
            <a:r>
              <a:rPr sz="1000">
                <a:solidFill>
                  <a:srgbClr val="FFFFFF"/>
                </a:solidFill>
                <a:latin typeface="Noto Sans CJK JP"/>
              </a:rPr>
              <a:t>tr_mcp/server.py</a:t>
            </a:r>
          </a:p>
        </p:txBody>
      </p:sp>
      <p:sp>
        <p:nvSpPr>
          <p:cNvPr id="7" name="Rounded Rectangle 6"/>
          <p:cNvSpPr/>
          <p:nvPr/>
        </p:nvSpPr>
        <p:spPr>
          <a:xfrm>
            <a:off x="6035040" y="1920240"/>
            <a:ext cx="2468880" cy="137160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trlib (Python)</a:t>
            </a:r>
          </a:p>
          <a:p>
            <a:pPr algn="ctr"/>
            <a:r>
              <a:rPr sz="1100">
                <a:solidFill>
                  <a:srgbClr val="FFFFFF"/>
                </a:solidFill>
                <a:latin typeface="Noto Sans CJK JP"/>
              </a:rPr>
              <a:t>Trlib() ラッパー</a:t>
            </a:r>
          </a:p>
          <a:p>
            <a:pPr algn="ctr"/>
            <a:r>
              <a:rPr sz="1100">
                <a:solidFill>
                  <a:srgbClr val="FFFFFF"/>
                </a:solidFill>
                <a:latin typeface="Noto Sans CJK JP"/>
              </a:rPr>
              <a:t>set_param / run /</a:t>
            </a:r>
          </a:p>
          <a:p>
            <a:pPr algn="ctr"/>
            <a:r>
              <a:rPr sz="1100">
                <a:solidFill>
                  <a:srgbClr val="FFFFFF"/>
                </a:solidFill>
                <a:latin typeface="Noto Sans CJK JP"/>
              </a:rPr>
              <a:t>get_state</a:t>
            </a:r>
          </a:p>
        </p:txBody>
      </p:sp>
      <p:sp>
        <p:nvSpPr>
          <p:cNvPr id="8" name="Rounded Rectangle 7"/>
          <p:cNvSpPr/>
          <p:nvPr/>
        </p:nvSpPr>
        <p:spPr>
          <a:xfrm>
            <a:off x="8869680" y="1920240"/>
            <a:ext cx="2468880" cy="137160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libtrapi.so</a:t>
            </a:r>
          </a:p>
          <a:p>
            <a:pPr algn="ctr"/>
            <a:r>
              <a:rPr sz="1100">
                <a:solidFill>
                  <a:srgbClr val="FFFFFF"/>
                </a:solidFill>
                <a:latin typeface="Noto Sans CJK JP"/>
              </a:rPr>
              <a:t>Fortran カーネル</a:t>
            </a:r>
          </a:p>
          <a:p>
            <a:pPr algn="ctr"/>
            <a:r>
              <a:rPr sz="1100">
                <a:solidFill>
                  <a:srgbClr val="FFFFFF"/>
                </a:solidFill>
                <a:latin typeface="Noto Sans CJK JP"/>
              </a:rPr>
              <a:t>(BIND(C) ABI)</a:t>
            </a:r>
          </a:p>
        </p:txBody>
      </p:sp>
      <p:cxnSp>
        <p:nvCxnSpPr>
          <p:cNvPr id="9" name="Connector 8"/>
          <p:cNvCxnSpPr/>
          <p:nvPr/>
        </p:nvCxnSpPr>
        <p:spPr>
          <a:xfrm>
            <a:off x="2834640" y="2606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194560" y="2377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JSON-RPC</a:t>
            </a:r>
          </a:p>
        </p:txBody>
      </p:sp>
      <p:cxnSp>
        <p:nvCxnSpPr>
          <p:cNvPr id="11" name="Connector 10"/>
          <p:cNvCxnSpPr/>
          <p:nvPr/>
        </p:nvCxnSpPr>
        <p:spPr>
          <a:xfrm>
            <a:off x="5669280" y="2606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377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handle_*</a:t>
            </a:r>
          </a:p>
        </p:txBody>
      </p:sp>
      <p:cxnSp>
        <p:nvCxnSpPr>
          <p:cNvPr id="13" name="Connector 12"/>
          <p:cNvCxnSpPr/>
          <p:nvPr/>
        </p:nvCxnSpPr>
        <p:spPr>
          <a:xfrm>
            <a:off x="8503920" y="2606040"/>
            <a:ext cx="3657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63840" y="23774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ctypes</a:t>
            </a:r>
          </a:p>
        </p:txBody>
      </p:sp>
      <p:sp>
        <p:nvSpPr>
          <p:cNvPr id="15" name="TextBox 14"/>
          <p:cNvSpPr txBox="1"/>
          <p:nvPr/>
        </p:nvSpPr>
        <p:spPr>
          <a:xfrm>
            <a:off x="365760" y="3611880"/>
            <a:ext cx="6766560" cy="365760"/>
          </a:xfrm>
          <a:prstGeom prst="rect">
            <a:avLst/>
          </a:prstGeom>
          <a:noFill/>
        </p:spPr>
        <p:txBody>
          <a:bodyPr wrap="square" lIns="36000" rIns="36000" tIns="18000" bIns="18000" anchor="t">
            <a:spAutoFit/>
          </a:bodyPr>
          <a:lstStyle/>
          <a:p>
            <a:pPr algn="l"/>
            <a:r>
              <a:rPr sz="1400" b="1">
                <a:solidFill>
                  <a:srgbClr val="6A1B9A"/>
                </a:solidFill>
                <a:latin typeface="Noto Sans CJK JP"/>
              </a:rPr>
              <a:t>公開ツール (FastMCP @mcp.tool() で 9 個):</a:t>
            </a:r>
          </a:p>
        </p:txBody>
      </p:sp>
      <p:sp>
        <p:nvSpPr>
          <p:cNvPr id="16" name="TextBox 15"/>
          <p:cNvSpPr txBox="1"/>
          <p:nvPr/>
        </p:nvSpPr>
        <p:spPr>
          <a:xfrm>
            <a:off x="365760" y="3977639"/>
            <a:ext cx="6766560" cy="237744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中核 5: init / set_param / run / get_state / finalize</a:t>
            </a:r>
          </a:p>
          <a:p>
            <a:pPr algn="l">
              <a:spcAft>
                <a:spcPts val="600"/>
              </a:spcAft>
            </a:pPr>
            <a:r>
              <a:rPr sz="1300">
                <a:solidFill>
                  <a:srgbClr val="101010"/>
                </a:solidFill>
                <a:latin typeface="Noto Sans CJK JP"/>
              </a:rPr>
              <a:t>・ 一括設定: set_params (scalar / list / dict / str を許容)</a:t>
            </a:r>
          </a:p>
          <a:p>
            <a:pPr algn="l">
              <a:spcAft>
                <a:spcPts val="600"/>
              </a:spcAft>
            </a:pPr>
            <a:r>
              <a:rPr sz="1300">
                <a:solidFill>
                  <a:srgbClr val="101010"/>
                </a:solidFill>
                <a:latin typeface="Noto Sans CJK JP"/>
              </a:rPr>
              <a:t>・ 一発実行: run_and_get_state (init+set+run+get_state)</a:t>
            </a:r>
          </a:p>
          <a:p>
            <a:pPr algn="l">
              <a:spcAft>
                <a:spcPts val="600"/>
              </a:spcAft>
            </a:pPr>
            <a:r>
              <a:rPr sz="1300">
                <a:solidFill>
                  <a:srgbClr val="101010"/>
                </a:solidFill>
                <a:latin typeface="Noto Sans CJK JP"/>
              </a:rPr>
              <a:t>・ 補助: describe_parameters (登録済み param 一覧 + 型/group)</a:t>
            </a:r>
          </a:p>
          <a:p>
            <a:pPr algn="l">
              <a:spcAft>
                <a:spcPts val="600"/>
              </a:spcAft>
            </a:pPr>
            <a:r>
              <a:rPr sz="1300">
                <a:solidFill>
                  <a:srgbClr val="101010"/>
                </a:solidFill>
                <a:latin typeface="Noto Sans CJK JP"/>
              </a:rPr>
              <a:t>・ 補助: describe_state_schema (state の JSON-Schema)</a:t>
            </a:r>
          </a:p>
        </p:txBody>
      </p:sp>
      <p:sp>
        <p:nvSpPr>
          <p:cNvPr id="17" name="Rounded Rectangle 16"/>
          <p:cNvSpPr/>
          <p:nvPr/>
        </p:nvSpPr>
        <p:spPr>
          <a:xfrm>
            <a:off x="7315200" y="3977639"/>
            <a:ext cx="4480560" cy="237744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想定ユースケース</a:t>
            </a:r>
          </a:p>
          <a:p>
            <a:pPr algn="ctr"/>
            <a:r>
              <a:rPr sz="1200">
                <a:solidFill>
                  <a:srgbClr val="FFFFFF"/>
                </a:solidFill>
                <a:latin typeface="Noto Sans CJK JP"/>
              </a:rPr>
              <a:t>・ 自然言語でのパラメータ探索</a:t>
            </a:r>
          </a:p>
          <a:p>
            <a:pPr algn="ctr"/>
            <a:r>
              <a:rPr sz="1200">
                <a:solidFill>
                  <a:srgbClr val="FFFFFF"/>
                </a:solidFill>
                <a:latin typeface="Noto Sans CJK JP"/>
              </a:rPr>
              <a:t>・ 対話的な数値デバッグ</a:t>
            </a:r>
          </a:p>
          <a:p>
            <a:pPr algn="ctr"/>
            <a:r>
              <a:rPr sz="1200">
                <a:solidFill>
                  <a:srgbClr val="FFFFFF"/>
                </a:solidFill>
                <a:latin typeface="Noto Sans CJK JP"/>
              </a:rPr>
              <a:t>・ ノートブック的な計算依頼</a:t>
            </a:r>
          </a:p>
          <a:p>
            <a:pPr algn="ctr"/>
            <a:r>
              <a:rPr sz="1200">
                <a:solidFill>
                  <a:srgbClr val="FFFFFF"/>
                </a:solidFill>
                <a:latin typeface="Noto Sans CJK JP"/>
              </a:rPr>
              <a:t>・ LLM agent から sweep 自動化</a:t>
            </a:r>
          </a:p>
          <a:p>
            <a:pPr algn="ctr"/>
            <a:r>
              <a:rPr sz="1200">
                <a:solidFill>
                  <a:srgbClr val="FFFFFF"/>
                </a:solidFill>
                <a:latin typeface="Noto Sans CJK JP"/>
              </a:rPr>
              <a:t>・ describe_* で自己発見的に学習</a:t>
            </a:r>
          </a:p>
        </p:txBody>
      </p:sp>
      <p:sp>
        <p:nvSpPr>
          <p:cNvPr id="18" name="TextBox 17"/>
          <p:cNvSpPr txBox="1"/>
          <p:nvPr/>
        </p:nvSpPr>
        <p:spPr>
          <a:xfrm>
            <a:off x="365760" y="6446520"/>
            <a:ext cx="11430000" cy="365760"/>
          </a:xfrm>
          <a:prstGeom prst="rect">
            <a:avLst/>
          </a:prstGeom>
          <a:noFill/>
        </p:spPr>
        <p:txBody>
          <a:bodyPr wrap="square" lIns="36000" rIns="36000" tIns="18000" bIns="18000" anchor="t">
            <a:spAutoFit/>
          </a:bodyPr>
          <a:lstStyle/>
          <a:p>
            <a:pPr algn="l"/>
            <a:r>
              <a:rPr sz="1100" b="0">
                <a:solidFill>
                  <a:srgbClr val="555555"/>
                </a:solidFill>
                <a:latin typeface="Noto Sans CJK JP"/>
              </a:rPr>
              <a:t>サーバ名は "task-tr"。1 プロセス = 1 Trlib インスタンス (libtrapi.so の COMMON シングルトン制約)。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起動と接続例</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python -m tr_mcp.server + Claude / Cursor 設定スニペット</a:t>
            </a:r>
          </a:p>
        </p:txBody>
      </p:sp>
      <p:sp>
        <p:nvSpPr>
          <p:cNvPr id="5" name="Rectangle 4"/>
          <p:cNvSpPr/>
          <p:nvPr/>
        </p:nvSpPr>
        <p:spPr>
          <a:xfrm>
            <a:off x="365760" y="1188720"/>
            <a:ext cx="5577840" cy="22860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起動方法</a:t>
            </a:r>
          </a:p>
          <a:p>
            <a:r>
              <a:rPr sz="1200">
                <a:solidFill>
                  <a:srgbClr val="101010"/>
                </a:solidFill>
                <a:latin typeface="DejaVu Sans Mono"/>
              </a:rPr>
              <a:t># 1. 依存導入 (libtrapi.so は事前に make 済みであること)</a:t>
            </a:r>
          </a:p>
          <a:p>
            <a:r>
              <a:rPr sz="1200">
                <a:solidFill>
                  <a:srgbClr val="101010"/>
                </a:solidFill>
                <a:latin typeface="DejaVu Sans Mono"/>
              </a:rPr>
              <a:t>$ pip install 'mcp&gt;=0.9'</a:t>
            </a:r>
          </a:p>
          <a:p>
            <a:r>
              <a:rPr sz="1200">
                <a:solidFill>
                  <a:srgbClr val="101010"/>
                </a:solidFill>
                <a:latin typeface="DejaVu Sans Mono"/>
              </a:rPr>
              <a:t>$ pip install -e python/mcp-servers/tr_mcp</a:t>
            </a:r>
          </a:p>
          <a:p>
            <a:r>
              <a:rPr sz="1200">
                <a:solidFill>
                  <a:srgbClr val="101010"/>
                </a:solidFill>
                <a:latin typeface="DejaVu Sans Mono"/>
              </a:rPr>
              <a:t> </a:t>
            </a:r>
          </a:p>
          <a:p>
            <a:r>
              <a:rPr sz="1200">
                <a:solidFill>
                  <a:srgbClr val="101010"/>
                </a:solidFill>
                <a:latin typeface="DejaVu Sans Mono"/>
              </a:rPr>
              <a:t># 2. 直接起動 (stdio モード) — 動作確認用</a:t>
            </a:r>
          </a:p>
          <a:p>
            <a:r>
              <a:rPr sz="1200">
                <a:solidFill>
                  <a:srgbClr val="101010"/>
                </a:solidFill>
                <a:latin typeface="DejaVu Sans Mono"/>
              </a:rPr>
              <a:t>$ python -m tr_mcp.server</a:t>
            </a:r>
          </a:p>
          <a:p>
            <a:r>
              <a:rPr sz="1200">
                <a:solidFill>
                  <a:srgbClr val="101010"/>
                </a:solidFill>
                <a:latin typeface="DejaVu Sans Mono"/>
              </a:rPr>
              <a:t>$ python -m tr_mcp.server --print-tools   # 9 ツールを列挙</a:t>
            </a:r>
          </a:p>
          <a:p>
            <a:r>
              <a:rPr sz="1200">
                <a:solidFill>
                  <a:srgbClr val="101010"/>
                </a:solidFill>
                <a:latin typeface="DejaVu Sans Mono"/>
              </a:rPr>
              <a:t>$ python -m tr_mcp.server --help</a:t>
            </a:r>
          </a:p>
          <a:p>
            <a:r>
              <a:rPr sz="1200">
                <a:solidFill>
                  <a:srgbClr val="101010"/>
                </a:solidFill>
                <a:latin typeface="DejaVu Sans Mono"/>
              </a:rPr>
              <a:t> </a:t>
            </a:r>
          </a:p>
          <a:p>
            <a:r>
              <a:rPr sz="1200">
                <a:solidFill>
                  <a:srgbClr val="101010"/>
                </a:solidFill>
                <a:latin typeface="DejaVu Sans Mono"/>
              </a:rPr>
              <a:t># 3. インストール済みなら entry-point script でも同じ</a:t>
            </a:r>
          </a:p>
          <a:p>
            <a:r>
              <a:rPr sz="1200">
                <a:solidFill>
                  <a:srgbClr val="101010"/>
                </a:solidFill>
                <a:latin typeface="DejaVu Sans Mono"/>
              </a:rPr>
              <a:t>$ tr-mcp</a:t>
            </a:r>
          </a:p>
          <a:p>
            <a:r>
              <a:rPr sz="1200">
                <a:solidFill>
                  <a:srgbClr val="101010"/>
                </a:solidFill>
                <a:latin typeface="DejaVu Sans Mono"/>
              </a:rPr>
              <a:t> </a:t>
            </a:r>
          </a:p>
        </p:txBody>
      </p:sp>
      <p:sp>
        <p:nvSpPr>
          <p:cNvPr id="6" name="Rectangle 5"/>
          <p:cNvSpPr/>
          <p:nvPr/>
        </p:nvSpPr>
        <p:spPr>
          <a:xfrm>
            <a:off x="6126480" y="1188720"/>
            <a:ext cx="5669280" cy="22860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200" b="1">
                <a:solidFill>
                  <a:srgbClr val="555555"/>
                </a:solidFill>
                <a:latin typeface="Noto Sans CJK JP"/>
              </a:rPr>
              <a:t>Claude Desktop 設定</a:t>
            </a:r>
          </a:p>
          <a:p>
            <a:r>
              <a:rPr sz="1100">
                <a:solidFill>
                  <a:srgbClr val="101010"/>
                </a:solidFill>
                <a:latin typeface="DejaVu Sans Mono"/>
              </a:rPr>
              <a:t>// claude_desktop_config.json (macOS:</a:t>
            </a:r>
          </a:p>
          <a:p>
            <a:r>
              <a:rPr sz="1100">
                <a:solidFill>
                  <a:srgbClr val="101010"/>
                </a:solidFill>
                <a:latin typeface="DejaVu Sans Mono"/>
              </a:rPr>
              <a:t>//   ~/Library/Application Support/Claude/...</a:t>
            </a:r>
          </a:p>
          <a:p>
            <a:r>
              <a:rPr sz="1100">
                <a:solidFill>
                  <a:srgbClr val="101010"/>
                </a:solidFill>
                <a:latin typeface="DejaVu Sans Mono"/>
              </a:rPr>
              <a:t>//   Linux: ~/.config/claude-desktop/...) — パス要修正</a:t>
            </a:r>
          </a:p>
          <a:p>
            <a:r>
              <a:rPr sz="1100">
                <a:solidFill>
                  <a:srgbClr val="101010"/>
                </a:solidFill>
                <a:latin typeface="DejaVu Sans Mono"/>
              </a:rPr>
              <a:t>{</a:t>
            </a:r>
          </a:p>
          <a:p>
            <a:r>
              <a:rPr sz="1100">
                <a:solidFill>
                  <a:srgbClr val="101010"/>
                </a:solidFill>
                <a:latin typeface="DejaVu Sans Mono"/>
              </a:rPr>
              <a:t>  "mcpServers": {</a:t>
            </a:r>
          </a:p>
          <a:p>
            <a:r>
              <a:rPr sz="1100">
                <a:solidFill>
                  <a:srgbClr val="101010"/>
                </a:solidFill>
                <a:latin typeface="DejaVu Sans Mono"/>
              </a:rPr>
              <a:t>    "task-tr": {</a:t>
            </a:r>
          </a:p>
          <a:p>
            <a:r>
              <a:rPr sz="1100">
                <a:solidFill>
                  <a:srgbClr val="101010"/>
                </a:solidFill>
                <a:latin typeface="DejaVu Sans Mono"/>
              </a:rPr>
              <a:t>      "command": "python",</a:t>
            </a:r>
          </a:p>
          <a:p>
            <a:r>
              <a:rPr sz="1100">
                <a:solidFill>
                  <a:srgbClr val="101010"/>
                </a:solidFill>
                <a:latin typeface="DejaVu Sans Mono"/>
              </a:rPr>
              <a:t>      "args": ["-m", "tr_mcp.server"],</a:t>
            </a:r>
          </a:p>
          <a:p>
            <a:r>
              <a:rPr sz="1100">
                <a:solidFill>
                  <a:srgbClr val="101010"/>
                </a:solidFill>
                <a:latin typeface="DejaVu Sans Mono"/>
              </a:rPr>
              <a:t>      "env": {</a:t>
            </a:r>
          </a:p>
          <a:p>
            <a:r>
              <a:rPr sz="1100">
                <a:solidFill>
                  <a:srgbClr val="101010"/>
                </a:solidFill>
                <a:latin typeface="DejaVu Sans Mono"/>
              </a:rPr>
              <a:t>        "PYTHONPATH": "/abs/path/to/task/python",</a:t>
            </a:r>
          </a:p>
          <a:p>
            <a:r>
              <a:rPr sz="1100">
                <a:solidFill>
                  <a:srgbClr val="101010"/>
                </a:solidFill>
                <a:latin typeface="DejaVu Sans Mono"/>
              </a:rPr>
              <a:t>        "TRLIB_PATH":  "/abs/path/to/task/tr/libtrapi.so"</a:t>
            </a:r>
          </a:p>
          <a:p>
            <a:r>
              <a:rPr sz="1100">
                <a:solidFill>
                  <a:srgbClr val="101010"/>
                </a:solidFill>
                <a:latin typeface="DejaVu Sans Mono"/>
              </a:rPr>
              <a:t>      }</a:t>
            </a:r>
          </a:p>
          <a:p>
            <a:r>
              <a:rPr sz="1100">
                <a:solidFill>
                  <a:srgbClr val="101010"/>
                </a:solidFill>
                <a:latin typeface="DejaVu Sans Mono"/>
              </a:rPr>
              <a:t>    }</a:t>
            </a:r>
          </a:p>
          <a:p>
            <a:r>
              <a:rPr sz="1100">
                <a:solidFill>
                  <a:srgbClr val="101010"/>
                </a:solidFill>
                <a:latin typeface="DejaVu Sans Mono"/>
              </a:rPr>
              <a:t>  }</a:t>
            </a:r>
          </a:p>
          <a:p>
            <a:r>
              <a:rPr sz="1100">
                <a:solidFill>
                  <a:srgbClr val="101010"/>
                </a:solidFill>
                <a:latin typeface="DejaVu Sans Mono"/>
              </a:rPr>
              <a:t>}</a:t>
            </a:r>
          </a:p>
          <a:p>
            <a:r>
              <a:rPr sz="1100">
                <a:solidFill>
                  <a:srgbClr val="101010"/>
                </a:solidFill>
                <a:latin typeface="DejaVu Sans Mono"/>
              </a:rPr>
              <a:t> </a:t>
            </a:r>
          </a:p>
        </p:txBody>
      </p:sp>
      <p:sp>
        <p:nvSpPr>
          <p:cNvPr id="7" name="Rectangle 6"/>
          <p:cNvSpPr/>
          <p:nvPr/>
        </p:nvSpPr>
        <p:spPr>
          <a:xfrm>
            <a:off x="365760" y="3611880"/>
            <a:ext cx="5577840" cy="13716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Claude Code / Cursor</a:t>
            </a:r>
          </a:p>
          <a:p>
            <a:r>
              <a:rPr sz="1200">
                <a:solidFill>
                  <a:srgbClr val="101010"/>
                </a:solidFill>
                <a:latin typeface="DejaVu Sans Mono"/>
              </a:rPr>
              <a:t># Claude Code の場合 — CLI から登録できます</a:t>
            </a:r>
          </a:p>
          <a:p>
            <a:r>
              <a:rPr sz="1200">
                <a:solidFill>
                  <a:srgbClr val="101010"/>
                </a:solidFill>
                <a:latin typeface="DejaVu Sans Mono"/>
              </a:rPr>
              <a:t>$ claude mcp add task-tr \</a:t>
            </a:r>
          </a:p>
          <a:p>
            <a:r>
              <a:rPr sz="1200">
                <a:solidFill>
                  <a:srgbClr val="101010"/>
                </a:solidFill>
                <a:latin typeface="DejaVu Sans Mono"/>
              </a:rPr>
              <a:t>    --env PYTHONPATH=/abs/path/to/task/python \</a:t>
            </a:r>
          </a:p>
          <a:p>
            <a:r>
              <a:rPr sz="1200">
                <a:solidFill>
                  <a:srgbClr val="101010"/>
                </a:solidFill>
                <a:latin typeface="DejaVu Sans Mono"/>
              </a:rPr>
              <a:t>    --env TRLIB_PATH=/abs/path/to/task/tr/libtrapi.so \</a:t>
            </a:r>
          </a:p>
          <a:p>
            <a:r>
              <a:rPr sz="1200">
                <a:solidFill>
                  <a:srgbClr val="101010"/>
                </a:solidFill>
                <a:latin typeface="DejaVu Sans Mono"/>
              </a:rPr>
              <a:t>    -- python -m tr_mcp.server</a:t>
            </a:r>
          </a:p>
          <a:p>
            <a:r>
              <a:rPr sz="1200">
                <a:solidFill>
                  <a:srgbClr val="101010"/>
                </a:solidFill>
                <a:latin typeface="DejaVu Sans Mono"/>
              </a:rPr>
              <a:t> </a:t>
            </a:r>
          </a:p>
          <a:p>
            <a:r>
              <a:rPr sz="1200">
                <a:solidFill>
                  <a:srgbClr val="101010"/>
                </a:solidFill>
                <a:latin typeface="DejaVu Sans Mono"/>
              </a:rPr>
              <a:t># Cursor / VS Code 等も command/args は同じ要領</a:t>
            </a:r>
          </a:p>
          <a:p>
            <a:r>
              <a:rPr sz="1200">
                <a:solidFill>
                  <a:srgbClr val="101010"/>
                </a:solidFill>
                <a:latin typeface="DejaVu Sans Mono"/>
              </a:rPr>
              <a:t> </a:t>
            </a:r>
          </a:p>
        </p:txBody>
      </p:sp>
      <p:sp>
        <p:nvSpPr>
          <p:cNvPr id="8" name="Rounded Rectangle 7"/>
          <p:cNvSpPr/>
          <p:nvPr/>
        </p:nvSpPr>
        <p:spPr>
          <a:xfrm>
            <a:off x="6126480" y="3611880"/>
            <a:ext cx="5669280" cy="1371600"/>
          </a:xfrm>
          <a:prstGeom prst="roundRect">
            <a:avLst/>
          </a:prstGeom>
          <a:solidFill>
            <a:srgbClr val="C62828"/>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トラブルシュート</a:t>
            </a:r>
          </a:p>
          <a:p>
            <a:pPr algn="ctr"/>
            <a:r>
              <a:rPr sz="1100">
                <a:solidFill>
                  <a:srgbClr val="FFFFFF"/>
                </a:solidFill>
                <a:latin typeface="Noto Sans CJK JP"/>
              </a:rPr>
              <a:t>・ libtrapi.so 未ビルド → make -C tr libtrapi.so</a:t>
            </a:r>
          </a:p>
          <a:p>
            <a:pPr algn="ctr"/>
            <a:r>
              <a:rPr sz="1100">
                <a:solidFill>
                  <a:srgbClr val="FFFFFF"/>
                </a:solidFill>
                <a:latin typeface="Noto Sans CJK JP"/>
              </a:rPr>
              <a:t>・ ModuleNotFoundError: mcp → pip install 'mcp&gt;=0.9'</a:t>
            </a:r>
          </a:p>
          <a:p>
            <a:pPr algn="ctr"/>
            <a:r>
              <a:rPr sz="1100">
                <a:solidFill>
                  <a:srgbClr val="FFFFFF"/>
                </a:solidFill>
                <a:latin typeface="Noto Sans CJK JP"/>
              </a:rPr>
              <a:t>・ ModuleNotFoundError: trlib → PYTHONPATH を再確認</a:t>
            </a:r>
          </a:p>
        </p:txBody>
      </p:sp>
      <p:sp>
        <p:nvSpPr>
          <p:cNvPr id="9" name="Rounded Rectangle 8"/>
          <p:cNvSpPr/>
          <p:nvPr/>
        </p:nvSpPr>
        <p:spPr>
          <a:xfrm>
            <a:off x="365760" y="5166360"/>
            <a:ext cx="11430000" cy="13716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stdout を JSON-RPC で汚染しないこと</a:t>
            </a:r>
          </a:p>
          <a:p>
            <a:pPr algn="ctr"/>
            <a:r>
              <a:rPr sz="1100">
                <a:solidFill>
                  <a:srgbClr val="FFFFFF"/>
                </a:solidFill>
                <a:latin typeface="Noto Sans CJK JP"/>
              </a:rPr>
              <a:t>MCP は stdio で JSON-RPC を流すため、Fortran 側の print 出力が混ざるとクライアントが parse error を起こします。tr_mcp は LLM 向けレスポンスのみ stdout に流す設計です。Fortran カーネル由来のログは scratch unit に逃がし、デバッグメッセージは stderr へ出します。</a:t>
            </a:r>
          </a:p>
          <a:p>
            <a:pPr algn="ctr"/>
            <a:r>
              <a:rPr sz="1100">
                <a:solidFill>
                  <a:srgbClr val="FFFFFF"/>
                </a:solidFill>
                <a:latin typeface="Noto Sans CJK JP"/>
              </a:rPr>
              <a:t>新しく Fortran 側に WRITE(6,*) を追加した場合は scratch unit 経由に変更してください。</a:t>
            </a:r>
          </a:p>
        </p:txBody>
      </p:sp>
      <p:sp>
        <p:nvSpPr>
          <p:cNvPr id="10" name="TextBox 9"/>
          <p:cNvSpPr txBox="1"/>
          <p:nvPr/>
        </p:nvSpPr>
        <p:spPr>
          <a:xfrm>
            <a:off x="365760" y="6583680"/>
            <a:ext cx="11430000" cy="274320"/>
          </a:xfrm>
          <a:prstGeom prst="rect">
            <a:avLst/>
          </a:prstGeom>
          <a:noFill/>
        </p:spPr>
        <p:txBody>
          <a:bodyPr wrap="square" lIns="36000" rIns="36000" tIns="18000" bIns="18000" anchor="t">
            <a:spAutoFit/>
          </a:bodyPr>
          <a:lstStyle/>
          <a:p>
            <a:pPr algn="l"/>
            <a:r>
              <a:rPr sz="1000" b="0">
                <a:solidFill>
                  <a:srgbClr val="555555"/>
                </a:solidFill>
                <a:latin typeface="Noto Sans CJK JP"/>
              </a:rPr>
              <a:t>上の JSON は説明用のサンプルです。実環境ではパスを絶対パスで書き換えてください。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LLM 経由での実行例</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自然言語の依頼が JSON-RPC ツール呼び出しに展開される</a:t>
            </a:r>
          </a:p>
        </p:txBody>
      </p:sp>
      <p:sp>
        <p:nvSpPr>
          <p:cNvPr id="5" name="Rectangle 4"/>
          <p:cNvSpPr/>
          <p:nvPr/>
        </p:nvSpPr>
        <p:spPr>
          <a:xfrm>
            <a:off x="365760" y="1188720"/>
            <a:ext cx="5577840" cy="51206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200" b="1">
                <a:solidFill>
                  <a:srgbClr val="555555"/>
                </a:solidFill>
                <a:latin typeface="Noto Sans CJK JP"/>
              </a:rPr>
              <a:t>チャット風ログ (例示)</a:t>
            </a:r>
          </a:p>
          <a:p>
            <a:r>
              <a:rPr sz="1100">
                <a:solidFill>
                  <a:srgbClr val="101010"/>
                </a:solidFill>
                <a:latin typeface="DejaVu Sans Mono"/>
              </a:rPr>
              <a:t>User:</a:t>
            </a:r>
          </a:p>
          <a:p>
            <a:r>
              <a:rPr sz="1100">
                <a:solidFill>
                  <a:srgbClr val="101010"/>
                </a:solidFill>
                <a:latin typeface="DejaVu Sans Mono"/>
              </a:rPr>
              <a:t>  ITER ベースで NSMAX=4, RR=6.2, BB=5.3 にして</a:t>
            </a:r>
          </a:p>
          <a:p>
            <a:r>
              <a:rPr sz="1100">
                <a:solidFill>
                  <a:srgbClr val="101010"/>
                </a:solidFill>
                <a:latin typeface="DejaVu Sans Mono"/>
              </a:rPr>
              <a:t>  100 ステップ走らせて、TE プロファイルだけ返して。</a:t>
            </a:r>
          </a:p>
          <a:p>
            <a:r>
              <a:rPr sz="1100">
                <a:solidFill>
                  <a:srgbClr val="101010"/>
                </a:solidFill>
                <a:latin typeface="DejaVu Sans Mono"/>
              </a:rPr>
              <a:t> </a:t>
            </a:r>
          </a:p>
          <a:p>
            <a:r>
              <a:rPr sz="1100">
                <a:solidFill>
                  <a:srgbClr val="101010"/>
                </a:solidFill>
                <a:latin typeface="DejaVu Sans Mono"/>
              </a:rPr>
              <a:t>Assistant (内部 thought):</a:t>
            </a:r>
          </a:p>
          <a:p>
            <a:r>
              <a:rPr sz="1100">
                <a:solidFill>
                  <a:srgbClr val="101010"/>
                </a:solidFill>
                <a:latin typeface="DejaVu Sans Mono"/>
              </a:rPr>
              <a:t>  parameter 名は describe_parameters で確認済み。</a:t>
            </a:r>
          </a:p>
          <a:p>
            <a:r>
              <a:rPr sz="1100">
                <a:solidFill>
                  <a:srgbClr val="101010"/>
                </a:solidFill>
                <a:latin typeface="DejaVu Sans Mono"/>
              </a:rPr>
              <a:t>  RR/BB はスカラー、NSMAX は整数。</a:t>
            </a:r>
          </a:p>
          <a:p>
            <a:r>
              <a:rPr sz="1100">
                <a:solidFill>
                  <a:srgbClr val="101010"/>
                </a:solidFill>
                <a:latin typeface="DejaVu Sans Mono"/>
              </a:rPr>
              <a:t>  init → set_params → run(100) → get_state でいけそう。</a:t>
            </a:r>
          </a:p>
          <a:p>
            <a:r>
              <a:rPr sz="1100">
                <a:solidFill>
                  <a:srgbClr val="101010"/>
                </a:solidFill>
                <a:latin typeface="DejaVu Sans Mono"/>
              </a:rPr>
              <a:t> </a:t>
            </a:r>
          </a:p>
          <a:p>
            <a:r>
              <a:rPr sz="1100">
                <a:solidFill>
                  <a:srgbClr val="101010"/>
                </a:solidFill>
                <a:latin typeface="DejaVu Sans Mono"/>
              </a:rPr>
              <a:t>Assistant (返答):</a:t>
            </a:r>
          </a:p>
          <a:p>
            <a:r>
              <a:rPr sz="1100">
                <a:solidFill>
                  <a:srgbClr val="101010"/>
                </a:solidFill>
                <a:latin typeface="DejaVu Sans Mono"/>
              </a:rPr>
              <a:t>  100 ステップ実行しました。電子温度プロファイルです:</a:t>
            </a:r>
          </a:p>
          <a:p>
            <a:r>
              <a:rPr sz="1100">
                <a:solidFill>
                  <a:srgbClr val="101010"/>
                </a:solidFill>
                <a:latin typeface="DejaVu Sans Mono"/>
              </a:rPr>
              <a:t>    TE(0)       = 15.2 keV</a:t>
            </a:r>
          </a:p>
          <a:p>
            <a:r>
              <a:rPr sz="1100">
                <a:solidFill>
                  <a:srgbClr val="101010"/>
                </a:solidFill>
                <a:latin typeface="DejaVu Sans Mono"/>
              </a:rPr>
              <a:t>    TE(NRMAX/2) =  4.7 keV</a:t>
            </a:r>
          </a:p>
          <a:p>
            <a:r>
              <a:rPr sz="1100">
                <a:solidFill>
                  <a:srgbClr val="101010"/>
                </a:solidFill>
                <a:latin typeface="DejaVu Sans Mono"/>
              </a:rPr>
              <a:t>    TE(NRMAX)   =  0.4 keV</a:t>
            </a:r>
          </a:p>
          <a:p>
            <a:r>
              <a:rPr sz="1100">
                <a:solidFill>
                  <a:srgbClr val="101010"/>
                </a:solidFill>
                <a:latin typeface="DejaVu Sans Mono"/>
              </a:rPr>
              <a:t>  必要なら全 NRMAX 点のリストもお出しします。</a:t>
            </a:r>
          </a:p>
          <a:p>
            <a:r>
              <a:rPr sz="1100">
                <a:solidFill>
                  <a:srgbClr val="101010"/>
                </a:solidFill>
                <a:latin typeface="DejaVu Sans Mono"/>
              </a:rPr>
              <a:t> </a:t>
            </a:r>
          </a:p>
        </p:txBody>
      </p:sp>
      <p:sp>
        <p:nvSpPr>
          <p:cNvPr id="6" name="Rectangle 5"/>
          <p:cNvSpPr/>
          <p:nvPr/>
        </p:nvSpPr>
        <p:spPr>
          <a:xfrm>
            <a:off x="6126480" y="1188720"/>
            <a:ext cx="5669280" cy="51206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100" b="1">
                <a:solidFill>
                  <a:srgbClr val="555555"/>
                </a:solidFill>
                <a:latin typeface="Noto Sans CJK JP"/>
              </a:rPr>
              <a:t>JSON-RPC (LLM が裏で呼ぶ呼び出し列)</a:t>
            </a:r>
          </a:p>
          <a:p>
            <a:r>
              <a:rPr sz="1000">
                <a:solidFill>
                  <a:srgbClr val="101010"/>
                </a:solidFill>
                <a:latin typeface="DejaVu Sans Mono"/>
              </a:rPr>
              <a:t>// 1. 初期化</a:t>
            </a:r>
          </a:p>
          <a:p>
            <a:r>
              <a:rPr sz="1000">
                <a:solidFill>
                  <a:srgbClr val="101010"/>
                </a:solidFill>
                <a:latin typeface="DejaVu Sans Mono"/>
              </a:rPr>
              <a:t>{"method":"tools/call",</a:t>
            </a:r>
          </a:p>
          <a:p>
            <a:r>
              <a:rPr sz="1000">
                <a:solidFill>
                  <a:srgbClr val="101010"/>
                </a:solidFill>
                <a:latin typeface="DejaVu Sans Mono"/>
              </a:rPr>
              <a:t> "params":{"name":"init","arguments":{}}}</a:t>
            </a:r>
          </a:p>
          <a:p>
            <a:r>
              <a:rPr sz="1000">
                <a:solidFill>
                  <a:srgbClr val="101010"/>
                </a:solidFill>
                <a:latin typeface="DejaVu Sans Mono"/>
              </a:rPr>
              <a:t> </a:t>
            </a:r>
          </a:p>
          <a:p>
            <a:r>
              <a:rPr sz="1000">
                <a:solidFill>
                  <a:srgbClr val="101010"/>
                </a:solidFill>
                <a:latin typeface="DejaVu Sans Mono"/>
              </a:rPr>
              <a:t>// 2. パラメータ一括設定</a:t>
            </a:r>
          </a:p>
          <a:p>
            <a:r>
              <a:rPr sz="1000">
                <a:solidFill>
                  <a:srgbClr val="101010"/>
                </a:solidFill>
                <a:latin typeface="DejaVu Sans Mono"/>
              </a:rPr>
              <a:t>{"method":"tools/call",</a:t>
            </a:r>
          </a:p>
          <a:p>
            <a:r>
              <a:rPr sz="1000">
                <a:solidFill>
                  <a:srgbClr val="101010"/>
                </a:solidFill>
                <a:latin typeface="DejaVu Sans Mono"/>
              </a:rPr>
              <a:t> "params":{"name":"set_params",</a:t>
            </a:r>
          </a:p>
          <a:p>
            <a:r>
              <a:rPr sz="1000">
                <a:solidFill>
                  <a:srgbClr val="101010"/>
                </a:solidFill>
                <a:latin typeface="DejaVu Sans Mono"/>
              </a:rPr>
              <a:t>   "arguments":{"params":{</a:t>
            </a:r>
          </a:p>
          <a:p>
            <a:r>
              <a:rPr sz="1000">
                <a:solidFill>
                  <a:srgbClr val="101010"/>
                </a:solidFill>
                <a:latin typeface="DejaVu Sans Mono"/>
              </a:rPr>
              <a:t>     "NSMAX":4, "RR":6.2, "BB":5.3}}}}</a:t>
            </a:r>
          </a:p>
          <a:p>
            <a:r>
              <a:rPr sz="1000">
                <a:solidFill>
                  <a:srgbClr val="101010"/>
                </a:solidFill>
                <a:latin typeface="DejaVu Sans Mono"/>
              </a:rPr>
              <a:t> </a:t>
            </a:r>
          </a:p>
          <a:p>
            <a:r>
              <a:rPr sz="1000">
                <a:solidFill>
                  <a:srgbClr val="101010"/>
                </a:solidFill>
                <a:latin typeface="DejaVu Sans Mono"/>
              </a:rPr>
              <a:t>// 3. 100 ステップ進める</a:t>
            </a:r>
          </a:p>
          <a:p>
            <a:r>
              <a:rPr sz="1000">
                <a:solidFill>
                  <a:srgbClr val="101010"/>
                </a:solidFill>
                <a:latin typeface="DejaVu Sans Mono"/>
              </a:rPr>
              <a:t>{"method":"tools/call",</a:t>
            </a:r>
          </a:p>
          <a:p>
            <a:r>
              <a:rPr sz="1000">
                <a:solidFill>
                  <a:srgbClr val="101010"/>
                </a:solidFill>
                <a:latin typeface="DejaVu Sans Mono"/>
              </a:rPr>
              <a:t> "params":{"name":"run",</a:t>
            </a:r>
          </a:p>
          <a:p>
            <a:r>
              <a:rPr sz="1000">
                <a:solidFill>
                  <a:srgbClr val="101010"/>
                </a:solidFill>
                <a:latin typeface="DejaVu Sans Mono"/>
              </a:rPr>
              <a:t>   "arguments":{"ntmax":100}}}</a:t>
            </a:r>
          </a:p>
          <a:p>
            <a:r>
              <a:rPr sz="1000">
                <a:solidFill>
                  <a:srgbClr val="101010"/>
                </a:solidFill>
                <a:latin typeface="DejaVu Sans Mono"/>
              </a:rPr>
              <a:t> </a:t>
            </a:r>
          </a:p>
          <a:p>
            <a:r>
              <a:rPr sz="1000">
                <a:solidFill>
                  <a:srgbClr val="101010"/>
                </a:solidFill>
                <a:latin typeface="DejaVu Sans Mono"/>
              </a:rPr>
              <a:t>// 4. 状態取得 (TE は profile[*].RT[0])</a:t>
            </a:r>
          </a:p>
          <a:p>
            <a:r>
              <a:rPr sz="1000">
                <a:solidFill>
                  <a:srgbClr val="101010"/>
                </a:solidFill>
                <a:latin typeface="DejaVu Sans Mono"/>
              </a:rPr>
              <a:t>{"method":"tools/call",</a:t>
            </a:r>
          </a:p>
          <a:p>
            <a:r>
              <a:rPr sz="1000">
                <a:solidFill>
                  <a:srgbClr val="101010"/>
                </a:solidFill>
                <a:latin typeface="DejaVu Sans Mono"/>
              </a:rPr>
              <a:t> "params":{"name":"get_state","arguments":{}}}</a:t>
            </a:r>
          </a:p>
          <a:p>
            <a:r>
              <a:rPr sz="1000">
                <a:solidFill>
                  <a:srgbClr val="101010"/>
                </a:solidFill>
                <a:latin typeface="DejaVu Sans Mono"/>
              </a:rPr>
              <a:t> </a:t>
            </a:r>
          </a:p>
          <a:p>
            <a:r>
              <a:rPr sz="1000">
                <a:solidFill>
                  <a:srgbClr val="101010"/>
                </a:solidFill>
                <a:latin typeface="DejaVu Sans Mono"/>
              </a:rPr>
              <a:t>// 5. 後始末 (任意)</a:t>
            </a:r>
          </a:p>
          <a:p>
            <a:r>
              <a:rPr sz="1000">
                <a:solidFill>
                  <a:srgbClr val="101010"/>
                </a:solidFill>
                <a:latin typeface="DejaVu Sans Mono"/>
              </a:rPr>
              <a:t>{"method":"tools/call",</a:t>
            </a:r>
          </a:p>
          <a:p>
            <a:r>
              <a:rPr sz="1000">
                <a:solidFill>
                  <a:srgbClr val="101010"/>
                </a:solidFill>
                <a:latin typeface="DejaVu Sans Mono"/>
              </a:rPr>
              <a:t> "params":{"name":"finalize","arguments":{}}}</a:t>
            </a:r>
          </a:p>
          <a:p>
            <a:r>
              <a:rPr sz="1000">
                <a:solidFill>
                  <a:srgbClr val="101010"/>
                </a:solidFill>
                <a:latin typeface="DejaVu Sans Mono"/>
              </a:rPr>
              <a:t> </a:t>
            </a:r>
          </a:p>
        </p:txBody>
      </p:sp>
      <p:sp>
        <p:nvSpPr>
          <p:cNvPr id="7" name="Rounded Rectangle 6"/>
          <p:cNvSpPr/>
          <p:nvPr/>
        </p:nvSpPr>
        <p:spPr>
          <a:xfrm>
            <a:off x="365760" y="6400800"/>
            <a:ext cx="11430000" cy="45720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200" b="1">
                <a:solidFill>
                  <a:srgbClr val="FFFFFF"/>
                </a:solidFill>
                <a:latin typeface="Noto Sans CJK JP"/>
              </a:rPr>
              <a:t>運用上の注意</a:t>
            </a:r>
          </a:p>
          <a:p>
            <a:pPr algn="ctr"/>
            <a:r>
              <a:rPr sz="1100">
                <a:solidFill>
                  <a:srgbClr val="FFFFFF"/>
                </a:solidFill>
                <a:latin typeface="Noto Sans CJK JP"/>
              </a:rPr>
              <a:t>・ アクセス制御: stdio は同一マシン内のみ。リモート公開時は SSH トンネル等で認可を担保。・ 長時間ジョブ: run(N) は同期呼出。N が大きい時はクライアントの timeout 延長を検討。</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まとめ + 参考</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5 行から始められる Python TR 計算</a:t>
            </a:r>
          </a:p>
        </p:txBody>
      </p:sp>
      <p:sp>
        <p:nvSpPr>
          <p:cNvPr id="5" name="TextBox 4"/>
          <p:cNvSpPr txBox="1"/>
          <p:nvPr/>
        </p:nvSpPr>
        <p:spPr>
          <a:xfrm>
            <a:off x="365760" y="1188720"/>
            <a:ext cx="11430000" cy="2286000"/>
          </a:xfrm>
          <a:prstGeom prst="rect">
            <a:avLst/>
          </a:prstGeom>
          <a:noFill/>
        </p:spPr>
        <p:txBody>
          <a:bodyPr wrap="square" lIns="36000" rIns="36000" tIns="18000" bIns="18000">
            <a:spAutoFit/>
          </a:bodyPr>
          <a:lstStyle/>
          <a:p>
            <a:pPr algn="l">
              <a:spcAft>
                <a:spcPts val="600"/>
              </a:spcAft>
            </a:pPr>
            <a:r>
              <a:rPr sz="1500">
                <a:solidFill>
                  <a:srgbClr val="101010"/>
                </a:solidFill>
                <a:latin typeface="Noto Sans CJK JP"/>
              </a:rPr>
              <a:t>・ trlib は ctypes 越しに libtrapi.so を呼ぶ薄い Python ラッパー。</a:t>
            </a:r>
          </a:p>
          <a:p>
            <a:pPr algn="l">
              <a:spcAft>
                <a:spcPts val="600"/>
              </a:spcAft>
            </a:pPr>
            <a:r>
              <a:rPr sz="1500">
                <a:solidFill>
                  <a:srgbClr val="101010"/>
                </a:solidFill>
                <a:latin typeface="Noto Sans CJK JP"/>
              </a:rPr>
              <a:t>・ with Trlib() as tr: tr.run(N); state = tr.get_state() の 5 段階フロー。</a:t>
            </a:r>
          </a:p>
          <a:p>
            <a:pPr algn="l">
              <a:spcAft>
                <a:spcPts val="600"/>
              </a:spcAft>
            </a:pPr>
            <a:r>
              <a:rPr sz="1500">
                <a:solidFill>
                  <a:srgbClr val="101010"/>
                </a:solidFill>
                <a:latin typeface="Noto Sans CJK JP"/>
              </a:rPr>
              <a:t>・ set_param / set_param_str / set_params の 3 種で全パラメータを設定。</a:t>
            </a:r>
          </a:p>
          <a:p>
            <a:pPr algn="l">
              <a:spcAft>
                <a:spcPts val="600"/>
              </a:spcAft>
            </a:pPr>
            <a:r>
              <a:rPr sz="1500">
                <a:solidFill>
                  <a:srgbClr val="101010"/>
                </a:solidFill>
                <a:latin typeface="Noto Sans CJK JP"/>
              </a:rPr>
              <a:t>・ TrState dataclass + to_dict() で結果を JSON / matplotlib に直結。</a:t>
            </a:r>
          </a:p>
          <a:p>
            <a:pPr algn="l">
              <a:spcAft>
                <a:spcPts val="600"/>
              </a:spcAft>
            </a:pPr>
            <a:r>
              <a:rPr sz="1500">
                <a:solidFill>
                  <a:srgbClr val="101010"/>
                </a:solidFill>
                <a:latin typeface="Noto Sans CJK JP"/>
              </a:rPr>
              <a:t>・ デバッグは TR_DUMP_STATE による dump-and-diff が確実。</a:t>
            </a:r>
          </a:p>
          <a:p>
            <a:pPr algn="l">
              <a:spcAft>
                <a:spcPts val="600"/>
              </a:spcAft>
            </a:pPr>
            <a:r>
              <a:rPr sz="1500">
                <a:solidFill>
                  <a:srgbClr val="101010"/>
                </a:solidFill>
                <a:latin typeface="Noto Sans CJK JP"/>
              </a:rPr>
              <a:t>・ MCP 経由 (tr_mcp) で LLM から自然言語駆動も可能。</a:t>
            </a:r>
          </a:p>
          <a:p>
            <a:pPr algn="l">
              <a:spcAft>
                <a:spcPts val="600"/>
              </a:spcAft>
            </a:pPr>
            <a:r>
              <a:rPr sz="1500">
                <a:solidFill>
                  <a:srgbClr val="101010"/>
                </a:solidFill>
                <a:latin typeface="Noto Sans CJK JP"/>
              </a:rPr>
              <a:t>・ 他モジュール (fp/ti/wr/wrx/eq/tot) も同じ API パターン。</a:t>
            </a:r>
          </a:p>
        </p:txBody>
      </p:sp>
      <p:graphicFrame>
        <p:nvGraphicFramePr>
          <p:cNvPr id="6" name="Table 5"/>
          <p:cNvGraphicFramePr>
            <a:graphicFrameLocks noGrp="1"/>
          </p:cNvGraphicFramePr>
          <p:nvPr/>
        </p:nvGraphicFramePr>
        <p:xfrm>
          <a:off x="365760" y="3611880"/>
          <a:ext cx="11430000" cy="2926080"/>
        </p:xfrm>
        <a:graphic>
          <a:graphicData uri="http://schemas.openxmlformats.org/drawingml/2006/table">
            <a:tbl>
              <a:tblPr firstRow="1" bandRow="1">
                <a:tableStyleId>{5C22544A-7EE6-4342-B048-85BDC9FD1C3A}</a:tableStyleId>
              </a:tblPr>
              <a:tblGrid>
                <a:gridCol w="5715000"/>
                <a:gridCol w="5715000"/>
              </a:tblGrid>
              <a:tr h="243840">
                <a:tc>
                  <a:txBody>
                    <a:bodyPr wrap="square"/>
                    <a:lstStyle/>
                    <a:p>
                      <a:pPr algn="l"/>
                      <a:r>
                        <a:rPr sz="1200" b="1">
                          <a:solidFill>
                            <a:srgbClr val="FFFFFF"/>
                          </a:solidFill>
                          <a:latin typeface="Noto Sans CJK JP"/>
                        </a:rPr>
                        <a:t>種別</a:t>
                      </a:r>
                    </a:p>
                  </a:txBody>
                  <a:tcPr>
                    <a:solidFill>
                      <a:srgbClr val="0D47A1"/>
                    </a:solidFill>
                  </a:tcPr>
                </a:tc>
                <a:tc>
                  <a:txBody>
                    <a:bodyPr wrap="square"/>
                    <a:lstStyle/>
                    <a:p>
                      <a:pPr algn="l"/>
                      <a:r>
                        <a:rPr sz="1200" b="1">
                          <a:solidFill>
                            <a:srgbClr val="FFFFFF"/>
                          </a:solidFill>
                          <a:latin typeface="Noto Sans CJK JP"/>
                        </a:rPr>
                        <a:t>場所</a:t>
                      </a:r>
                    </a:p>
                  </a:txBody>
                  <a:tcPr>
                    <a:solidFill>
                      <a:srgbClr val="0D47A1"/>
                    </a:solidFill>
                  </a:tcPr>
                </a:tc>
              </a:tr>
              <a:tr h="243840">
                <a:tc>
                  <a:txBody>
                    <a:bodyPr wrap="square"/>
                    <a:lstStyle/>
                    <a:p>
                      <a:pPr algn="l"/>
                      <a:r>
                        <a:rPr sz="1200">
                          <a:solidFill>
                            <a:srgbClr val="101010"/>
                          </a:solidFill>
                          <a:latin typeface="Noto Sans CJK JP"/>
                        </a:rPr>
                        <a:t>Trlib クラス</a:t>
                      </a:r>
                    </a:p>
                  </a:txBody>
                  <a:tcPr>
                    <a:solidFill>
                      <a:srgbClr val="FFFFFF"/>
                    </a:solidFill>
                  </a:tcPr>
                </a:tc>
                <a:tc>
                  <a:txBody>
                    <a:bodyPr wrap="square"/>
                    <a:lstStyle/>
                    <a:p>
                      <a:pPr algn="l"/>
                      <a:r>
                        <a:rPr sz="1200">
                          <a:solidFill>
                            <a:srgbClr val="101010"/>
                          </a:solidFill>
                          <a:latin typeface="Noto Sans CJK JP"/>
                        </a:rPr>
                        <a:t>python/trlib/trlib.py</a:t>
                      </a:r>
                    </a:p>
                  </a:txBody>
                  <a:tcPr>
                    <a:solidFill>
                      <a:srgbClr val="FFFFFF"/>
                    </a:solidFill>
                  </a:tcPr>
                </a:tc>
              </a:tr>
              <a:tr h="243840">
                <a:tc>
                  <a:txBody>
                    <a:bodyPr wrap="square"/>
                    <a:lstStyle/>
                    <a:p>
                      <a:pPr algn="l"/>
                      <a:r>
                        <a:rPr sz="1200">
                          <a:solidFill>
                            <a:srgbClr val="101010"/>
                          </a:solidFill>
                          <a:latin typeface="Noto Sans CJK JP"/>
                        </a:rPr>
                        <a:t>TrState dataclass</a:t>
                      </a:r>
                    </a:p>
                  </a:txBody>
                  <a:tcPr>
                    <a:solidFill>
                      <a:srgbClr val="EEEEEE"/>
                    </a:solidFill>
                  </a:tcPr>
                </a:tc>
                <a:tc>
                  <a:txBody>
                    <a:bodyPr wrap="square"/>
                    <a:lstStyle/>
                    <a:p>
                      <a:pPr algn="l"/>
                      <a:r>
                        <a:rPr sz="1200">
                          <a:solidFill>
                            <a:srgbClr val="101010"/>
                          </a:solidFill>
                          <a:latin typeface="Noto Sans CJK JP"/>
                        </a:rPr>
                        <a:t>python/trlib/state.py</a:t>
                      </a:r>
                    </a:p>
                  </a:txBody>
                  <a:tcPr>
                    <a:solidFill>
                      <a:srgbClr val="EEEEEE"/>
                    </a:solidFill>
                  </a:tcPr>
                </a:tc>
              </a:tr>
              <a:tr h="243840">
                <a:tc>
                  <a:txBody>
                    <a:bodyPr wrap="square"/>
                    <a:lstStyle/>
                    <a:p>
                      <a:pPr algn="l"/>
                      <a:r>
                        <a:rPr sz="1200">
                          <a:solidFill>
                            <a:srgbClr val="101010"/>
                          </a:solidFill>
                          <a:latin typeface="Noto Sans CJK JP"/>
                        </a:rPr>
                        <a:t>例外階層</a:t>
                      </a:r>
                    </a:p>
                  </a:txBody>
                  <a:tcPr>
                    <a:solidFill>
                      <a:srgbClr val="FFFFFF"/>
                    </a:solidFill>
                  </a:tcPr>
                </a:tc>
                <a:tc>
                  <a:txBody>
                    <a:bodyPr wrap="square"/>
                    <a:lstStyle/>
                    <a:p>
                      <a:pPr algn="l"/>
                      <a:r>
                        <a:rPr sz="1200">
                          <a:solidFill>
                            <a:srgbClr val="101010"/>
                          </a:solidFill>
                          <a:latin typeface="Noto Sans CJK JP"/>
                        </a:rPr>
                        <a:t>python/trlib/errors.py</a:t>
                      </a:r>
                    </a:p>
                  </a:txBody>
                  <a:tcPr>
                    <a:solidFill>
                      <a:srgbClr val="FFFFFF"/>
                    </a:solidFill>
                  </a:tcPr>
                </a:tc>
              </a:tr>
              <a:tr h="243840">
                <a:tc>
                  <a:txBody>
                    <a:bodyPr wrap="square"/>
                    <a:lstStyle/>
                    <a:p>
                      <a:pPr algn="l"/>
                      <a:r>
                        <a:rPr sz="1200">
                          <a:solidFill>
                            <a:srgbClr val="101010"/>
                          </a:solidFill>
                          <a:latin typeface="Noto Sans CJK JP"/>
                        </a:rPr>
                        <a:t>fixture 例 (TST-2)</a:t>
                      </a:r>
                    </a:p>
                  </a:txBody>
                  <a:tcPr>
                    <a:solidFill>
                      <a:srgbClr val="EEEEEE"/>
                    </a:solidFill>
                  </a:tcPr>
                </a:tc>
                <a:tc>
                  <a:txBody>
                    <a:bodyPr wrap="square"/>
                    <a:lstStyle/>
                    <a:p>
                      <a:pPr algn="l"/>
                      <a:r>
                        <a:rPr sz="1200">
                          <a:solidFill>
                            <a:srgbClr val="101010"/>
                          </a:solidFill>
                          <a:latin typeface="Noto Sans CJK JP"/>
                        </a:rPr>
                        <a:t>python/trlib/tests/fixtures/tr_tst2_params.py</a:t>
                      </a:r>
                    </a:p>
                  </a:txBody>
                  <a:tcPr>
                    <a:solidFill>
                      <a:srgbClr val="EEEEEE"/>
                    </a:solidFill>
                  </a:tcPr>
                </a:tc>
              </a:tr>
              <a:tr h="243840">
                <a:tc>
                  <a:txBody>
                    <a:bodyPr wrap="square"/>
                    <a:lstStyle/>
                    <a:p>
                      <a:pPr algn="l"/>
                      <a:r>
                        <a:rPr sz="1200">
                          <a:solidFill>
                            <a:srgbClr val="101010"/>
                          </a:solidFill>
                          <a:latin typeface="Noto Sans CJK JP"/>
                        </a:rPr>
                        <a:t>fixture 例 (ITER01)</a:t>
                      </a:r>
                    </a:p>
                  </a:txBody>
                  <a:tcPr>
                    <a:solidFill>
                      <a:srgbClr val="FFFFFF"/>
                    </a:solidFill>
                  </a:tcPr>
                </a:tc>
                <a:tc>
                  <a:txBody>
                    <a:bodyPr wrap="square"/>
                    <a:lstStyle/>
                    <a:p>
                      <a:pPr algn="l"/>
                      <a:r>
                        <a:rPr sz="1200">
                          <a:solidFill>
                            <a:srgbClr val="101010"/>
                          </a:solidFill>
                          <a:latin typeface="Noto Sans CJK JP"/>
                        </a:rPr>
                        <a:t>python/trlib/tests/fixtures/tr_iter01_params.py</a:t>
                      </a:r>
                    </a:p>
                  </a:txBody>
                  <a:tcPr>
                    <a:solidFill>
                      <a:srgbClr val="FFFFFF"/>
                    </a:solidFill>
                  </a:tcPr>
                </a:tc>
              </a:tr>
              <a:tr h="243840">
                <a:tc>
                  <a:txBody>
                    <a:bodyPr wrap="square"/>
                    <a:lstStyle/>
                    <a:p>
                      <a:pPr algn="l"/>
                      <a:r>
                        <a:rPr sz="1200">
                          <a:solidFill>
                            <a:srgbClr val="101010"/>
                          </a:solidFill>
                          <a:latin typeface="Noto Sans CJK JP"/>
                        </a:rPr>
                        <a:t>Layer 1 等価性テスト</a:t>
                      </a:r>
                    </a:p>
                  </a:txBody>
                  <a:tcPr>
                    <a:solidFill>
                      <a:srgbClr val="EEEEEE"/>
                    </a:solidFill>
                  </a:tcPr>
                </a:tc>
                <a:tc>
                  <a:txBody>
                    <a:bodyPr wrap="square"/>
                    <a:lstStyle/>
                    <a:p>
                      <a:pPr algn="l"/>
                      <a:r>
                        <a:rPr sz="1200">
                          <a:solidFill>
                            <a:srgbClr val="101010"/>
                          </a:solidFill>
                          <a:latin typeface="Noto Sans CJK JP"/>
                        </a:rPr>
                        <a:t>python/trlib/tests/test_equivalence.py</a:t>
                      </a:r>
                    </a:p>
                  </a:txBody>
                  <a:tcPr>
                    <a:solidFill>
                      <a:srgbClr val="EEEEEE"/>
                    </a:solidFill>
                  </a:tcPr>
                </a:tc>
              </a:tr>
              <a:tr h="243840">
                <a:tc>
                  <a:txBody>
                    <a:bodyPr wrap="square"/>
                    <a:lstStyle/>
                    <a:p>
                      <a:pPr algn="l"/>
                      <a:r>
                        <a:rPr sz="1200">
                          <a:solidFill>
                            <a:srgbClr val="101010"/>
                          </a:solidFill>
                          <a:latin typeface="Noto Sans CJK JP"/>
                        </a:rPr>
                        <a:t>Layer 4 スイープテスト</a:t>
                      </a:r>
                    </a:p>
                  </a:txBody>
                  <a:tcPr>
                    <a:solidFill>
                      <a:srgbClr val="FFFFFF"/>
                    </a:solidFill>
                  </a:tcPr>
                </a:tc>
                <a:tc>
                  <a:txBody>
                    <a:bodyPr wrap="square"/>
                    <a:lstStyle/>
                    <a:p>
                      <a:pPr algn="l"/>
                      <a:r>
                        <a:rPr sz="1200">
                          <a:solidFill>
                            <a:srgbClr val="101010"/>
                          </a:solidFill>
                          <a:latin typeface="Noto Sans CJK JP"/>
                        </a:rPr>
                        <a:t>python/trlib/tests/test_sweep.py</a:t>
                      </a:r>
                    </a:p>
                  </a:txBody>
                  <a:tcPr>
                    <a:solidFill>
                      <a:srgbClr val="FFFFFF"/>
                    </a:solidFill>
                  </a:tcPr>
                </a:tc>
              </a:tr>
              <a:tr h="243840">
                <a:tc>
                  <a:txBody>
                    <a:bodyPr wrap="square"/>
                    <a:lstStyle/>
                    <a:p>
                      <a:pPr algn="l"/>
                      <a:r>
                        <a:rPr sz="1200">
                          <a:solidFill>
                            <a:srgbClr val="101010"/>
                          </a:solidFill>
                          <a:latin typeface="Noto Sans CJK JP"/>
                        </a:rPr>
                        <a:t>dump モジュール</a:t>
                      </a:r>
                    </a:p>
                  </a:txBody>
                  <a:tcPr>
                    <a:solidFill>
                      <a:srgbClr val="EEEEEE"/>
                    </a:solidFill>
                  </a:tcPr>
                </a:tc>
                <a:tc>
                  <a:txBody>
                    <a:bodyPr wrap="square"/>
                    <a:lstStyle/>
                    <a:p>
                      <a:pPr algn="l"/>
                      <a:r>
                        <a:rPr sz="1200">
                          <a:solidFill>
                            <a:srgbClr val="101010"/>
                          </a:solidFill>
                          <a:latin typeface="Noto Sans CJK JP"/>
                        </a:rPr>
                        <a:t>tr/tr_dump_state.f90</a:t>
                      </a:r>
                    </a:p>
                  </a:txBody>
                  <a:tcPr>
                    <a:solidFill>
                      <a:srgbClr val="EEEEEE"/>
                    </a:solidFill>
                  </a:tcPr>
                </a:tc>
              </a:tr>
              <a:tr h="243840">
                <a:tc>
                  <a:txBody>
                    <a:bodyPr wrap="square"/>
                    <a:lstStyle/>
                    <a:p>
                      <a:pPr algn="l"/>
                      <a:r>
                        <a:rPr sz="1200">
                          <a:solidFill>
                            <a:srgbClr val="101010"/>
                          </a:solidFill>
                          <a:latin typeface="Noto Sans CJK JP"/>
                        </a:rPr>
                        <a:t>パッケージ README</a:t>
                      </a:r>
                    </a:p>
                  </a:txBody>
                  <a:tcPr>
                    <a:solidFill>
                      <a:srgbClr val="FFFFFF"/>
                    </a:solidFill>
                  </a:tcPr>
                </a:tc>
                <a:tc>
                  <a:txBody>
                    <a:bodyPr wrap="square"/>
                    <a:lstStyle/>
                    <a:p>
                      <a:pPr algn="l"/>
                      <a:r>
                        <a:rPr sz="1200">
                          <a:solidFill>
                            <a:srgbClr val="101010"/>
                          </a:solidFill>
                          <a:latin typeface="Noto Sans CJK JP"/>
                        </a:rPr>
                        <a:t>python/trlib/README.md</a:t>
                      </a:r>
                    </a:p>
                  </a:txBody>
                  <a:tcPr>
                    <a:solidFill>
                      <a:srgbClr val="FFFFFF"/>
                    </a:solidFill>
                  </a:tcPr>
                </a:tc>
              </a:tr>
              <a:tr h="243840">
                <a:tc>
                  <a:txBody>
                    <a:bodyPr wrap="square"/>
                    <a:lstStyle/>
                    <a:p>
                      <a:pPr algn="l"/>
                      <a:r>
                        <a:rPr sz="1200">
                          <a:solidFill>
                            <a:srgbClr val="101010"/>
                          </a:solidFill>
                          <a:latin typeface="Noto Sans CJK JP"/>
                        </a:rPr>
                        <a:t>MCP サーバ実装</a:t>
                      </a:r>
                    </a:p>
                  </a:txBody>
                  <a:tcPr>
                    <a:solidFill>
                      <a:srgbClr val="EEEEEE"/>
                    </a:solidFill>
                  </a:tcPr>
                </a:tc>
                <a:tc>
                  <a:txBody>
                    <a:bodyPr wrap="square"/>
                    <a:lstStyle/>
                    <a:p>
                      <a:pPr algn="l"/>
                      <a:r>
                        <a:rPr sz="1200">
                          <a:solidFill>
                            <a:srgbClr val="101010"/>
                          </a:solidFill>
                          <a:latin typeface="Noto Sans CJK JP"/>
                        </a:rPr>
                        <a:t>python/mcp-servers/tr_mcp/server.py</a:t>
                      </a:r>
                    </a:p>
                  </a:txBody>
                  <a:tcPr>
                    <a:solidFill>
                      <a:srgbClr val="EEEEEE"/>
                    </a:solidFill>
                  </a:tcPr>
                </a:tc>
              </a:tr>
              <a:tr h="243840">
                <a:tc>
                  <a:txBody>
                    <a:bodyPr wrap="square"/>
                    <a:lstStyle/>
                    <a:p>
                      <a:pPr algn="l"/>
                      <a:r>
                        <a:rPr sz="1200">
                          <a:solidFill>
                            <a:srgbClr val="101010"/>
                          </a:solidFill>
                          <a:latin typeface="Noto Sans CJK JP"/>
                        </a:rPr>
                        <a:t>MCP サーバ README</a:t>
                      </a:r>
                    </a:p>
                  </a:txBody>
                  <a:tcPr>
                    <a:solidFill>
                      <a:srgbClr val="FFFFFF"/>
                    </a:solidFill>
                  </a:tcPr>
                </a:tc>
                <a:tc>
                  <a:txBody>
                    <a:bodyPr wrap="square"/>
                    <a:lstStyle/>
                    <a:p>
                      <a:pPr algn="l"/>
                      <a:r>
                        <a:rPr sz="1200">
                          <a:solidFill>
                            <a:srgbClr val="101010"/>
                          </a:solidFill>
                          <a:latin typeface="Noto Sans CJK JP"/>
                        </a:rPr>
                        <a:t>python/mcp-servers/tr_mcp/README.md</a:t>
                      </a:r>
                    </a:p>
                  </a:txBody>
                  <a:tcPr>
                    <a:solidFill>
                      <a:srgbClr val="FFFFFF"/>
                    </a:solidFill>
                  </a:tcPr>
                </a:tc>
              </a:tr>
            </a:tbl>
          </a:graphicData>
        </a:graphic>
      </p:graphicFrame>
      <p:sp>
        <p:nvSpPr>
          <p:cNvPr id="7" name="TextBox 6"/>
          <p:cNvSpPr txBox="1"/>
          <p:nvPr/>
        </p:nvSpPr>
        <p:spPr>
          <a:xfrm>
            <a:off x="365760" y="6583680"/>
            <a:ext cx="11430000" cy="274320"/>
          </a:xfrm>
          <a:prstGeom prst="rect">
            <a:avLst/>
          </a:prstGeom>
          <a:noFill/>
        </p:spPr>
        <p:txBody>
          <a:bodyPr wrap="square" lIns="36000" rIns="36000" tIns="18000" bIns="18000" anchor="t">
            <a:spAutoFit/>
          </a:bodyPr>
          <a:lstStyle/>
          <a:p>
            <a:pPr algn="ctr"/>
            <a:r>
              <a:rPr sz="1400" b="1">
                <a:solidFill>
                  <a:srgbClr val="0D47A1"/>
                </a:solidFill>
                <a:latin typeface="Noto Sans CJK JP"/>
              </a:rPr>
              <a:t>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